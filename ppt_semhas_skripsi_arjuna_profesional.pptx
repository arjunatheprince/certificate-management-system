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10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Relationship Id="rId3" Type="http://schemas.openxmlformats.org/officeDocument/2006/relationships/image" Target="../media/media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Relationship Id="rId3" Type="http://schemas.openxmlformats.org/officeDocument/2006/relationships/image" Target="../media/media5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6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Relationship Id="rId3" Type="http://schemas.openxmlformats.org/officeDocument/2006/relationships/image" Target="../media/media7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Relationship Id="rId3" Type="http://schemas.openxmlformats.org/officeDocument/2006/relationships/image" Target="../media/media8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Relationship Id="rId3" Type="http://schemas.openxmlformats.org/officeDocument/2006/relationships/image" Target="../media/media9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Relationship Id="rId3" Type="http://schemas.openxmlformats.org/officeDocument/2006/relationships/image" Target="../media/media10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Relationship Id="rId3" Type="http://schemas.openxmlformats.org/officeDocument/2006/relationships/image" Target="../media/media11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Relationship Id="rId3" Type="http://schemas.openxmlformats.org/officeDocument/2006/relationships/image" Target="../media/media12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Relationship Id="rId3" Type="http://schemas.openxmlformats.org/officeDocument/2006/relationships/image" Target="../media/media1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Relationship Id="rId3" Type="http://schemas.openxmlformats.org/officeDocument/2006/relationships/image" Target="../media/media14.png"/><Relationship Id="rId4" Type="http://schemas.openxmlformats.org/officeDocument/2006/relationships/image" Target="../media/media15.png"/><Relationship Id="rId5" Type="http://schemas.openxmlformats.org/officeDocument/2006/relationships/image" Target="../media/media16.png"/><Relationship Id="rId6" Type="http://schemas.openxmlformats.org/officeDocument/2006/relationships/image" Target="../media/media17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Relationship Id="rId3" Type="http://schemas.openxmlformats.org/officeDocument/2006/relationships/image" Target="../media/media18.png"/><Relationship Id="rId4" Type="http://schemas.openxmlformats.org/officeDocument/2006/relationships/image" Target="../media/media19.png"/><Relationship Id="rId5" Type="http://schemas.openxmlformats.org/officeDocument/2006/relationships/image" Target="../media/media20.png"/><Relationship Id="rId6" Type="http://schemas.openxmlformats.org/officeDocument/2006/relationships/image" Target="../media/media21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Relationship Id="rId3" Type="http://schemas.openxmlformats.org/officeDocument/2006/relationships/image" Target="../media/media22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Relationship Id="rId3" Type="http://schemas.openxmlformats.org/officeDocument/2006/relationships/image" Target="../media/media23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Relationship Id="rId3" Type="http://schemas.openxmlformats.org/officeDocument/2006/relationships/image" Target="../media/media23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Relationship Id="rId3" Type="http://schemas.openxmlformats.org/officeDocument/2006/relationships/image" Target="../media/media24.png"/><Relationship Id="rId4" Type="http://schemas.openxmlformats.org/officeDocument/2006/relationships/image" Target="../media/media25.png"/><Relationship Id="rId5" Type="http://schemas.openxmlformats.org/officeDocument/2006/relationships/image" Target="../media/media26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Relationship Id="rId3" Type="http://schemas.openxmlformats.org/officeDocument/2006/relationships/image" Target="../media/media27.png"/><Relationship Id="rId4" Type="http://schemas.openxmlformats.org/officeDocument/2006/relationships/image" Target="../media/media28.png"/><Relationship Id="rId5" Type="http://schemas.openxmlformats.org/officeDocument/2006/relationships/image" Target="../media/media29.png"/><Relationship Id="rId6" Type="http://schemas.openxmlformats.org/officeDocument/2006/relationships/image" Target="../media/media30.png"/><Relationship Id="rId7" Type="http://schemas.openxmlformats.org/officeDocument/2006/relationships/image" Target="../media/media31.png"/><Relationship Id="rId8" Type="http://schemas.openxmlformats.org/officeDocument/2006/relationships/image" Target="../media/media32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Relationship Id="rId3" Type="http://schemas.openxmlformats.org/officeDocument/2006/relationships/image" Target="../media/media33.png"/><Relationship Id="rId4" Type="http://schemas.openxmlformats.org/officeDocument/2006/relationships/image" Target="../media/media34.png"/><Relationship Id="rId5" Type="http://schemas.openxmlformats.org/officeDocument/2006/relationships/image" Target="../media/media35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Relationship Id="rId3" Type="http://schemas.openxmlformats.org/officeDocument/2006/relationships/image" Target="../media/media36.jpeg"/><Relationship Id="rId4" Type="http://schemas.openxmlformats.org/officeDocument/2006/relationships/image" Target="../media/media37.jpeg"/><Relationship Id="rId5" Type="http://schemas.openxmlformats.org/officeDocument/2006/relationships/image" Target="../media/media38.jpeg"/><Relationship Id="rId6" Type="http://schemas.openxmlformats.org/officeDocument/2006/relationships/image" Target="../media/media39.jpe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6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Relationship Id="rId3" Type="http://schemas.openxmlformats.org/officeDocument/2006/relationships/image" Target="../media/media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2" name="Text"/>
          <p:cNvSpPr txBox="1"/>
          <p:nvPr/>
        </p:nvSpPr>
        <p:spPr>
          <a:xfrm>
            <a:off x="2011680" y="1444752"/>
            <a:ext cx="4526280" cy="141732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Arjuna Pramudya Renaldi</a:t>
            </a:r>
          </a:p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NPM: 22.403040.19</a:t>
            </a:r>
          </a:p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Program Studi Teknik Komputer</a:t>
            </a:r>
          </a:p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Fakultas Teknik</a:t>
            </a:r>
          </a:p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Universitas Borneo Tarakan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812280" y="1444752"/>
            <a:ext cx="4297680" cy="1417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FFFFFF"/>
                </a:solidFill>
                <a:latin typeface="Aptos"/>
              </a:rPr>
              <a:t>Seminar Hasil Skripsi</a:t>
            </a:r>
          </a:p>
          <a:p>
            <a:pPr algn="l"/>
            <a:r>
              <a:rPr sz="1800" b="0" lang="id-ID">
                <a:solidFill>
                  <a:srgbClr val="FFFFFF"/>
                </a:solidFill>
                <a:latin typeface="Aptos"/>
              </a:rPr>
              <a:t>Pembimbing I: Dedy Harto, S.T., M.T.</a:t>
            </a:r>
          </a:p>
          <a:p>
            <a:pPr algn="l"/>
            <a:r>
              <a:rPr sz="1800" b="0" lang="id-ID">
                <a:solidFill>
                  <a:srgbClr val="FFFFFF"/>
                </a:solidFill>
                <a:latin typeface="Aptos"/>
              </a:rPr>
              <a:t>Pembimbing II: Awang Pradana, S.Kom., M.Kom.</a:t>
            </a:r>
          </a:p>
          <a:p>
            <a:pPr algn="l"/>
            <a:r>
              <a:rPr sz="1800" b="0" lang="id-ID">
                <a:solidFill>
                  <a:srgbClr val="FFFFFF"/>
                </a:solidFill>
                <a:latin typeface="Aptos"/>
              </a:rPr>
              <a:t>Tahun 2025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97280" y="4224528"/>
            <a:ext cx="196596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60/60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097280" y="4864608"/>
            <a:ext cx="19659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Black Box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401568" y="4224528"/>
            <a:ext cx="196596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14/14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3401568" y="4864608"/>
            <a:ext cx="19659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Security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705856" y="4224528"/>
            <a:ext cx="196596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88,46%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705856" y="4864608"/>
            <a:ext cx="19659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Kuesioner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010144" y="4224528"/>
            <a:ext cx="251460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Sangat Baik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010144" y="4864608"/>
            <a:ext cx="251460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Kategori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COVER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Implementasi Sistem Autentikasi Sertifikat Digital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Berbasis QR Code dengan Keamanan SHA-256 dan RBAC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01/29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1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1143000" cy="114300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68680" y="1728216"/>
            <a:ext cx="411480" cy="4114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55000" tIns="55000" rIns="55000" bIns="55000"/>
          <a:lstStyle/>
          <a:p>
            <a:pPr algn="ctr"/>
            <a:r>
              <a:rPr sz="1500" b="1" lang="id-ID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481328" y="1700784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1" lang="id-ID">
                <a:solidFill>
                  <a:srgbClr val="111827"/>
                </a:solidFill>
                <a:latin typeface="Aptos"/>
              </a:rPr>
              <a:t>Pendahuluan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429000" y="1700784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600" b="0" lang="id-ID">
                <a:solidFill>
                  <a:srgbClr val="475569"/>
                </a:solidFill>
                <a:latin typeface="Aptos"/>
              </a:rPr>
              <a:t>Latar belakang, rumusan masalah, tujuan, batasan, manfaat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68680" y="2386584"/>
            <a:ext cx="4114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55000" tIns="55000" rIns="55000" bIns="55000"/>
          <a:lstStyle/>
          <a:p>
            <a:pPr algn="ctr"/>
            <a:r>
              <a:rPr sz="1500" b="1" lang="id-ID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481328" y="2359152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1" lang="id-ID">
                <a:solidFill>
                  <a:srgbClr val="111827"/>
                </a:solidFill>
                <a:latin typeface="Aptos"/>
              </a:rPr>
              <a:t>Metode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429000" y="2359152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600" b="0" lang="id-ID">
                <a:solidFill>
                  <a:srgbClr val="475569"/>
                </a:solidFill>
                <a:latin typeface="Aptos"/>
              </a:rPr>
              <a:t>R&amp;D, ADDIE, instrumen pengujian, teknik analisis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68680" y="3044951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55000" tIns="55000" rIns="55000" bIns="55000"/>
          <a:lstStyle/>
          <a:p>
            <a:pPr algn="ctr"/>
            <a:r>
              <a:rPr sz="1500" b="1" lang="id-ID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481328" y="3017520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1" lang="id-ID">
                <a:solidFill>
                  <a:srgbClr val="111827"/>
                </a:solidFill>
                <a:latin typeface="Aptos"/>
              </a:rPr>
              <a:t>Perancangan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3429000" y="301752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600" b="0" lang="id-ID">
                <a:solidFill>
                  <a:srgbClr val="475569"/>
                </a:solidFill>
                <a:latin typeface="Aptos"/>
              </a:rPr>
              <a:t>Kerangka, flowchart, use case, DFD, ERD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68680" y="3703320"/>
            <a:ext cx="41148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55000" tIns="55000" rIns="55000" bIns="55000"/>
          <a:lstStyle/>
          <a:p>
            <a:pPr algn="ctr"/>
            <a:r>
              <a:rPr sz="1500" b="1" lang="id-ID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481328" y="3675887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1" lang="id-ID">
                <a:solidFill>
                  <a:srgbClr val="111827"/>
                </a:solidFill>
                <a:latin typeface="Aptos"/>
              </a:rPr>
              <a:t>Implementasi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3429000" y="3675887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600" b="0" lang="id-ID">
                <a:solidFill>
                  <a:srgbClr val="475569"/>
                </a:solidFill>
                <a:latin typeface="Aptos"/>
              </a:rPr>
              <a:t>Fitur sistem, QR Code, SHA-256, RBAC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868680" y="4361688"/>
            <a:ext cx="411480" cy="41148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txBody>
          <a:bodyPr wrap="square" lIns="55000" tIns="55000" rIns="55000" bIns="55000"/>
          <a:lstStyle/>
          <a:p>
            <a:pPr algn="ctr"/>
            <a:r>
              <a:rPr sz="1500" b="1" lang="id-ID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481328" y="4334255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1" lang="id-ID">
                <a:solidFill>
                  <a:srgbClr val="111827"/>
                </a:solidFill>
                <a:latin typeface="Aptos"/>
              </a:rPr>
              <a:t>Hasil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3429000" y="4334255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600" b="0" lang="id-ID">
                <a:solidFill>
                  <a:srgbClr val="475569"/>
                </a:solidFill>
                <a:latin typeface="Aptos"/>
              </a:rPr>
              <a:t>Black box, security testing, kuesioner Likert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68680" y="5020055"/>
            <a:ext cx="411480" cy="4114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txBody>
          <a:bodyPr wrap="square" lIns="55000" tIns="55000" rIns="55000" bIns="55000"/>
          <a:lstStyle/>
          <a:p>
            <a:pPr algn="ctr"/>
            <a:r>
              <a:rPr sz="1500" b="1" lang="id-ID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481328" y="4992623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1" lang="id-ID">
                <a:solidFill>
                  <a:srgbClr val="111827"/>
                </a:solidFill>
                <a:latin typeface="Aptos"/>
              </a:rPr>
              <a:t>Penutup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3429000" y="4992623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600" b="0" lang="id-ID">
                <a:solidFill>
                  <a:srgbClr val="475569"/>
                </a:solidFill>
                <a:latin typeface="Aptos"/>
              </a:rPr>
              <a:t>Kesimpulan dan saran pengembangan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40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PEMBUKA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Agenda Presentasi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Bagian dibuat ringkas mengikuti alur seminar hasil.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02/29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658368" y="1691640"/>
            <a:ext cx="5486400" cy="310896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Sertifikat merupakan bukti formal pencapaian, kompetensi, atau keikutsertaan.</a:t>
            </a:r>
          </a:p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Verifikasi manual membutuhkan waktu dan belum menjamin keabsahan dokumen secara akurat.</a:t>
            </a:r>
          </a:p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Sertifikat digital membutuhkan mekanisme untuk mencegah pemalsuan dan manipulasi file.</a:t>
            </a:r>
          </a:p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QR Code mempercepat akses verifikasi, SHA-256 menjaga integritas dokumen, dan RBAC mengatur hak akses.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537960" y="1783080"/>
            <a:ext cx="3931920" cy="42062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Arah solusi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537960" y="2450592"/>
            <a:ext cx="4114800" cy="1783080"/>
          </a:xfrm>
          <a:prstGeom prst="roundRect">
            <a:avLst/>
          </a:prstGeom>
          <a:solidFill>
            <a:srgbClr val="F0FDFA"/>
          </a:solidFill>
          <a:ln w="10000">
            <a:solidFill>
              <a:srgbClr val="99F6E4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2200" b="0" lang="id-ID">
                <a:solidFill>
                  <a:srgbClr val="334155"/>
                </a:solidFill>
                <a:latin typeface="Aptos"/>
              </a:rPr>
              <a:t>Sistem web Laravel 11 untuk pengelolaan dan autentikasi sertifikat digital yang terstruktur, aman, cepat, serta mudah diverifikasi oleh pihak internal maupun eksternal.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5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PENDAHULUAN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Latar Belakang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Masalah utama penelitian adalah keaslian, integritas, dan efisiensi verifikasi sertifikat.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03/29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13232" y="1700784"/>
            <a:ext cx="47548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Rumusan Masalah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13232" y="2395728"/>
            <a:ext cx="4892040" cy="219456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Bagaimana membangun sistem autentikasi sertifikat digital berbasis QR Code?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Bagaimana menerapkan SHA-256 dan RBAC untuk keamanan data dan akses?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Bagaimana menguji fungsi, keamanan, dan penerimaan pengguna terhadap sistem?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199632" y="1700784"/>
            <a:ext cx="47548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Tujuan Penelitian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199632" y="2395728"/>
            <a:ext cx="4892040" cy="219456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Menghasilkan sistem pengelolaan dan verifikasi sertifikat digital.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Menerapkan QR Code, SHA-256, dan RBAC pada sistem.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Mengevaluasi sistem melalui black box, security testing, dan kuesioner Likert.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PENDAHULUAN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Rumusan Masalah dan Tujuan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Rumusan dibuat langsung terhubung dengan output sistem.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04/29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13232" y="1700784"/>
            <a:ext cx="475488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Batasan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13232" y="2395728"/>
            <a:ext cx="4892040" cy="23774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Sistem berjalan sebagai aplikasi web pada lingkungan localhost.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Database terpusat menggunakan MySQL.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Role tetap: SuperAdmin, Admin, Viewer/Verifikator.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Keamanan difokuskan pada aplikasi web, bukan keamanan jaringan.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199632" y="1700784"/>
            <a:ext cx="47548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Manfaat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199632" y="2395728"/>
            <a:ext cx="4892040" cy="23774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Pengelolaan sertifikat lebih terpusat dan terdokumentasi.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Verifikasi keaslian lebih cepat menggunakan QR Code.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Manipulasi file dapat dideteksi melalui SHA-256.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Hak akses dan audit aktivitas lebih jelas melalui RBAC dan log.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PENDAHULUAN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Batasan dan Manfaat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Ruang lingkup menjaga penelitian tetap fokus pada prototipe sistem.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05/29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1051560" y="1536192"/>
            <a:ext cx="10012680" cy="452628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1143000" y="5760720"/>
            <a:ext cx="9829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Gambar 2.1 Kerangka Pemikiran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5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Kerangka Pemikiran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Kerangka menunjukkan hubungan masalah, teknologi, implementasi, dan hasil yang diharapkan.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06/29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223409" y="1645919"/>
            <a:ext cx="5668980" cy="406908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urpl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31520" y="1719072"/>
            <a:ext cx="33375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100" b="1" lang="id-ID">
                <a:solidFill>
                  <a:srgbClr val="FFFFFF"/>
                </a:solidFill>
                <a:latin typeface="Aptos"/>
              </a:rPr>
              <a:t>Research and Development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31520" y="2487168"/>
            <a:ext cx="3337560" cy="1234440"/>
          </a:xfrm>
          <a:prstGeom prst="roundRect">
            <a:avLst/>
          </a:prstGeom>
          <a:solidFill>
            <a:srgbClr val="EFF6FF"/>
          </a:solidFill>
          <a:ln w="10000">
            <a:solidFill>
              <a:srgbClr val="BFDBFE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Penelitian terapan untuk menghasilkan produk sistem autentikasi sertifikat digital yang dapat digunakan dan diuji secara praktis.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407408" y="1719072"/>
            <a:ext cx="333756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100" b="1" lang="id-ID">
                <a:solidFill>
                  <a:srgbClr val="FFFFFF"/>
                </a:solidFill>
                <a:latin typeface="Aptos"/>
              </a:rPr>
              <a:t>Model ADDIE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407408" y="2487168"/>
            <a:ext cx="3337560" cy="1234440"/>
          </a:xfrm>
          <a:prstGeom prst="roundRect">
            <a:avLst/>
          </a:prstGeom>
          <a:solidFill>
            <a:srgbClr val="F0FDFA"/>
          </a:solidFill>
          <a:ln w="10000">
            <a:solidFill>
              <a:srgbClr val="99F6E4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Analysis, Design, Development, Implementation, dan Evaluation sebagai tahapan pengembangan sistem.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083296" y="1719072"/>
            <a:ext cx="333756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100" b="1" lang="id-ID">
                <a:solidFill>
                  <a:srgbClr val="FFFFFF"/>
                </a:solidFill>
                <a:latin typeface="Aptos"/>
              </a:rPr>
              <a:t>Analisis Kuantitatif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083296" y="2487168"/>
            <a:ext cx="3337560" cy="1234440"/>
          </a:xfrm>
          <a:prstGeom prst="roundRect">
            <a:avLst/>
          </a:prstGeom>
          <a:solidFill>
            <a:srgbClr val="F5F3FF"/>
          </a:solidFill>
          <a:ln w="10000">
            <a:solidFill>
              <a:srgbClr val="DDD6FE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Data dianalisis dari persentase keberhasilan black box, tingkat keamanan, dan skor kuesioner Likert.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051560" y="457200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Instrumen: lembar black box, script security testing, script OWASP, dan kuesioner skala Likert.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Responden kuesioner: 20 orang, terdiri dari 3 SuperAdmin, 7 Admin, dan 10 Viewer/Verifikator.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METODE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Metode Penelitian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Penelitian menggunakan R&amp;D dengan model ADDIE dan pendekatan kuantitatif.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07/29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31520" y="1481328"/>
            <a:ext cx="4251960" cy="466344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822960" y="5843016"/>
            <a:ext cx="40690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Gambar 3.1 Flowchart SuperAdmin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486400" y="1828800"/>
            <a:ext cx="5120640" cy="32918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Login sebagai pengguna dengan hak tertinggi.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Mengakses dashboard, manajemen user, daftar sertifikat, activity log, dan pengaturan keamanan.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Melakukan tambah, edit, nonaktifkan, atau hapus user sesuai kebutuhan.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Melihat audit trail untuk memantau seluruh aktivitas sistem.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Flowchart SuperAdmin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SuperAdmin memiliki kendali penuh terhadap data, user, dan audit aktivitas.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08/29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5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050669" y="1591056"/>
            <a:ext cx="1613661" cy="420624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22960" y="1481328"/>
            <a:ext cx="4389120" cy="466344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914400" y="5843016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Gambar 3.2 Flowchart Admin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650992" y="1874519"/>
            <a:ext cx="5029200" cy="30632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Login menggunakan akun admin aktif.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Mengakses dashboard monitoring dan daftar sertifikat.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Mengunggah sertifikat, mengatur QR Code, serta memperbarui data sertifikat.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Melakukan verifikasi manual atau QR dari panel admin.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Flowchart Admin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Admin berfokus pada pengelolaan sertifikat dan verifikasi internal.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09/29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6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885703" y="1591056"/>
            <a:ext cx="2263632" cy="420624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68680" y="1481328"/>
            <a:ext cx="4343400" cy="466344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960120" y="5843016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Gambar 3.3 Flowchart User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623560" y="1874519"/>
            <a:ext cx="5074920" cy="30632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Mengakses halaman verifikasi publik.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Memasukkan nomor sertifikat atau memindai/mengunggah QR Code.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Sistem mencocokkan data sertifikat dan memeriksa integritas file.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Hasil validasi ditampilkan sebagai informasi keaslian sertifikat.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Flowchart User / Verifikator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User difokuskan pada proses verifikasi tanpa pengelolaan data.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10/29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7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382926" y="1591056"/>
            <a:ext cx="3314907" cy="420624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77240" y="1463040"/>
            <a:ext cx="5029200" cy="468172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868680" y="5843016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Gambar 3.4 Use Case Diagram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199632" y="1874519"/>
            <a:ext cx="4800600" cy="27889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Pengunjung melakukan verifikasi manual, scan QR, atau upload QR tanpa login.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Admin mengelola sertifikat: dashboard, upload, daftar, edit, dan verifikasi admin.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SuperAdmin memiliki akses tambahan untuk manajemen user, hapus sertifikat, dan activity log.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Use Case Diagram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Use case menunjukkan pembagian fungsi untuk Pengunjung, Admin, dan SuperAdmin.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11/29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8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45521" y="1572768"/>
            <a:ext cx="2692636" cy="4224528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914400" y="1664208"/>
            <a:ext cx="4754880" cy="384048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1005840" y="520293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Gambar 3.5 DFD Level 0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080760" y="1828800"/>
            <a:ext cx="4754880" cy="31546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Entitas eksternal: SuperAdmin, Admin Fakultas/Jurusan, dan Verifier.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Admin mengirimkan data sertifikat dan dokumen ke sistem.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Verifier mengirim permintaan verifikasi melalui QR Code atau nomor sertifikat.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Sistem memberikan hasil verifikasi dan informasi sertifikat.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DFD Level 0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DFD level 0 menggambarkan sistem sebagai satu proses utama.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12/29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9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457089" y="1773936"/>
            <a:ext cx="3669501" cy="338328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594360" y="1444752"/>
            <a:ext cx="6583680" cy="47091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685800" y="585216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Gambar 3.6 DFD Level 1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452360" y="1783080"/>
            <a:ext cx="3886200" cy="33832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Autentikasi memvalidasi email, password, status aktif akun, dan session.</a:t>
            </a:r>
          </a:p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Upload sertifikat menyimpan file, QR Code, hash SHA-256, dan digital signature.</a:t>
            </a:r>
          </a:p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Verifikasi sertifikat mencocokkan nomor/QR dengan database dan integritas file.</a:t>
            </a:r>
          </a:p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Activity log menyimpan jejak aktivitas sebagai audit trail.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DFD Level 1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DFD level 1 memecah sistem menjadi proses-proses utama.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13/29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1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99329" y="1554480"/>
            <a:ext cx="5973741" cy="425196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77240" y="1481328"/>
            <a:ext cx="5212080" cy="466344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868680" y="584301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Gambar 3.7 ERD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355080" y="1874519"/>
            <a:ext cx="4754880" cy="31546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users menyimpan data akun dan role pengguna.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students menyimpan identitas pemilik sertifikat.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certificates menyimpan data sertifikat, file, hash, digital signature, dan QR Code.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activity_logs mencatat aktivitas pengguna untuk kebutuhan audit.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Entity Relationship Diagram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ERD menunjukkan struktur data utama yang menopang sistem.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14/29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1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331116" y="1591056"/>
            <a:ext cx="4104326" cy="420624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77240" y="1737360"/>
            <a:ext cx="292608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000" b="1" lang="id-ID">
                <a:solidFill>
                  <a:srgbClr val="FFFFFF"/>
                </a:solidFill>
                <a:latin typeface="Aptos"/>
              </a:rPr>
              <a:t>Laravel 11 + PHP 8.2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77240" y="2450592"/>
            <a:ext cx="2926080" cy="1051560"/>
          </a:xfrm>
          <a:prstGeom prst="roundRect">
            <a:avLst/>
          </a:prstGeom>
          <a:solidFill>
            <a:srgbClr val="F0FDFA"/>
          </a:solidFill>
          <a:ln w="10000">
            <a:solidFill>
              <a:srgbClr val="99F6E4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MVC, routing, controller, middleware, validasi request, dan pengelolaan session.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886200" y="1737360"/>
            <a:ext cx="21488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000" b="1" lang="id-ID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886200" y="2450592"/>
            <a:ext cx="2148840" cy="1051560"/>
          </a:xfrm>
          <a:prstGeom prst="roundRect">
            <a:avLst/>
          </a:prstGeom>
          <a:solidFill>
            <a:srgbClr val="EFF6FF"/>
          </a:solidFill>
          <a:ln w="10000">
            <a:solidFill>
              <a:srgbClr val="BFDBFE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Menyimpan users, students, certificates, dan activity logs.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217920" y="1737360"/>
            <a:ext cx="25146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000" b="1" lang="id-ID">
                <a:solidFill>
                  <a:srgbClr val="FFFFFF"/>
                </a:solidFill>
                <a:latin typeface="Aptos"/>
              </a:rPr>
              <a:t>QR + Image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217920" y="2450592"/>
            <a:ext cx="2514600" cy="1051560"/>
          </a:xfrm>
          <a:prstGeom prst="roundRect">
            <a:avLst/>
          </a:prstGeom>
          <a:solidFill>
            <a:srgbClr val="F5F3FF"/>
          </a:solidFill>
          <a:ln w="10000">
            <a:solidFill>
              <a:srgbClr val="DDD6FE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Endroid QR Code, QR Reader, dan Intervention Image untuk QR serta penempelan pada dokumen.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915400" y="1737360"/>
            <a:ext cx="23317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000" b="1" lang="id-ID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915400" y="2450592"/>
            <a:ext cx="2331720" cy="1051560"/>
          </a:xfrm>
          <a:prstGeom prst="roundRect">
            <a:avLst/>
          </a:prstGeom>
          <a:solidFill>
            <a:srgbClr val="FEF2F2"/>
          </a:solidFill>
          <a:ln w="10000">
            <a:solidFill>
              <a:srgbClr val="FECACA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SHA-256, bcrypt, CSRF protection, rate limiting, validasi upload, dan RBAC.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14400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1" lang="id-ID">
                <a:solidFill>
                  <a:srgbClr val="111827"/>
                </a:solidFill>
                <a:latin typeface="Aptos"/>
              </a:rPr>
              <a:t>Alur teknis singkat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14400" y="4800600"/>
            <a:ext cx="9692640" cy="82296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Admin upload sertifikat -&gt; sistem membuat hash SHA-256 dan QR Code.</a:t>
            </a:r>
          </a:p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Viewer/verifikator melakukan input nomor atau QR -&gt; sistem mencocokkan data dan memvalidasi integritas file.</a:t>
            </a:r>
          </a:p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Setiap aktivitas penting dicatat di activity log.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2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IMPLEMENTASI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Arsitektur dan Teknologi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Implementasi memanfaatkan Laravel 11 dan beberapa library pendukung.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15/29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658368" y="1572768"/>
            <a:ext cx="5166360" cy="23317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749808" y="3602735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Halaman verifikasi publik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199632" y="1572768"/>
            <a:ext cx="5166360" cy="233172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6291072" y="3602735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Halaman login admin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58368" y="4160520"/>
            <a:ext cx="5166360" cy="1874519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749808" y="573328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Dashboard SuperAdmin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199632" y="4160520"/>
            <a:ext cx="5166360" cy="1874519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2" name="Text"/>
          <p:cNvSpPr txBox="1"/>
          <p:nvPr/>
        </p:nvSpPr>
        <p:spPr>
          <a:xfrm>
            <a:off x="6291072" y="573328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Upload sertifikat dan pengaturan QR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4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IMPLEMENTASI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Implementasi Antarmuka Publik dan Admin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Gambar ditampilkan lebih lega agar alur sistem mudah dipahami saat presentasi.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16/29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2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250191" y="1682495"/>
            <a:ext cx="3982713" cy="1874519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5" name="image2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230311" y="1682495"/>
            <a:ext cx="3105001" cy="1874519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8" name="image26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2232592" y="4270248"/>
            <a:ext cx="2017911" cy="1417319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1" name="image28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973364" y="4270248"/>
            <a:ext cx="1618894" cy="1417319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658368" y="1591056"/>
            <a:ext cx="5166360" cy="224028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749808" y="3529584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Daftar sertifikat SuperAdmin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199632" y="1591056"/>
            <a:ext cx="5166360" cy="224028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6291072" y="3529584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Edit sertifikat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58368" y="4114800"/>
            <a:ext cx="5166360" cy="1874519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749808" y="568756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Kelola user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199632" y="4114800"/>
            <a:ext cx="5166360" cy="1874519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2" name="Text"/>
          <p:cNvSpPr txBox="1"/>
          <p:nvPr/>
        </p:nvSpPr>
        <p:spPr>
          <a:xfrm>
            <a:off x="6291072" y="5687568"/>
            <a:ext cx="4983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Activity log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4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IMPLEMENTASI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Implementasi Pengelolaan Data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Fitur pengelolaan data ditampilkan terpisah agar tidak terlalu padat.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17/29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29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974787" y="1700784"/>
            <a:ext cx="2533520" cy="178308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5" name="image31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381985" y="1700784"/>
            <a:ext cx="2801652" cy="178308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8" name="image32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2084260" y="4224528"/>
            <a:ext cx="2314574" cy="1417319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1" name="image33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8269118" y="4224528"/>
            <a:ext cx="1027387" cy="1417319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68680" y="1783080"/>
            <a:ext cx="214884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SHA-256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68680" y="242316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Integritas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401568" y="1783080"/>
            <a:ext cx="214884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QR Code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401568" y="242316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Akses cepat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934456" y="1783080"/>
            <a:ext cx="214884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RBAC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934456" y="242316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Kontrol akses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467344" y="1783080"/>
            <a:ext cx="214884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Log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467344" y="242316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Audit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60120" y="3429000"/>
            <a:ext cx="9875520" cy="1874519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SHA-256 menghitung nilai hash file sertifikat dan membandingkannya saat verifikasi.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Digital signature dibentuk dari nomor sertifikat, NPM, dan hash file.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QR Code menyimpan URL atau nomor sertifikat untuk mempercepat proses validasi.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RBAC membatasi akses berdasarkan SuperAdmin, Admin, dan Viewer/Verifikator.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Activity log mencatat aktivitas penting untuk kebutuhan pemantauan dan audit.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IMPLEMENTASI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Implementasi Keamanan Sistem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Tiga mekanisme utama bekerja bersama untuk menjaga autentikasi dan integritas.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18/29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658368" y="1828800"/>
            <a:ext cx="475488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0000" tIns="60000" rIns="60000" bIns="60000"/>
          <a:lstStyle/>
          <a:p>
            <a:pPr algn="ctr"/>
            <a:r>
              <a:rPr sz="1700" b="1" lang="id-ID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58368" y="2505456"/>
            <a:ext cx="1920240" cy="129844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Input nomor sertifikat atau QR Code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2898648" y="1828800"/>
            <a:ext cx="475488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0000" tIns="60000" rIns="60000" bIns="60000"/>
          <a:lstStyle/>
          <a:p>
            <a:pPr algn="ctr"/>
            <a:r>
              <a:rPr sz="1700" b="1" lang="id-ID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2898648" y="2505456"/>
            <a:ext cx="1920240" cy="129844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Sistem membaca nomor sertifikat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138928" y="1828800"/>
            <a:ext cx="475488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0000" tIns="60000" rIns="60000" bIns="60000"/>
          <a:lstStyle/>
          <a:p>
            <a:pPr algn="ctr"/>
            <a:r>
              <a:rPr sz="1700" b="1" lang="id-ID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138928" y="2505456"/>
            <a:ext cx="1920240" cy="129844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Data dicari di database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7379208" y="1828800"/>
            <a:ext cx="475488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0000" tIns="60000" rIns="60000" bIns="60000"/>
          <a:lstStyle/>
          <a:p>
            <a:pPr algn="ctr"/>
            <a:r>
              <a:rPr sz="1700" b="1" lang="id-ID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379208" y="2505456"/>
            <a:ext cx="1920240" cy="129844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Hash file divalidasi ulang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619488" y="1828800"/>
            <a:ext cx="475488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0000" tIns="60000" rIns="60000" bIns="60000"/>
          <a:lstStyle/>
          <a:p>
            <a:pPr algn="ctr"/>
            <a:r>
              <a:rPr sz="1700" b="1" lang="id-ID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619488" y="2505456"/>
            <a:ext cx="1920240" cy="129844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34155"/>
                </a:solidFill>
                <a:latin typeface="Aptos"/>
              </a:rPr>
              <a:t>Status valid/tidak valid ditampilkan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051560" y="4315968"/>
            <a:ext cx="3840480" cy="148132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3" name="Text"/>
          <p:cNvSpPr txBox="1"/>
          <p:nvPr/>
        </p:nvSpPr>
        <p:spPr>
          <a:xfrm>
            <a:off x="1143000" y="5495544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Contoh hasil verifikasi valid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349240" y="4443984"/>
            <a:ext cx="5440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900" b="0" lang="id-ID">
                <a:solidFill>
                  <a:srgbClr val="475569"/>
                </a:solidFill>
                <a:latin typeface="Aptos"/>
              </a:rPr>
              <a:t>Jika nomor tidak ditemukan, QR tidak terbaca, role tidak sesuai, atau hash file berubah, sistem menolak proses dan menampilkan pesan gagal.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IMPLEMENTASI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Alur Verifikasi Sertifikat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Alur ini menjadi inti proses autentikasi sertifikat digital.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19/29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32" name="image23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61288" y="3860317"/>
            <a:ext cx="3621024" cy="2154884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77240" y="1737360"/>
            <a:ext cx="32461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000" b="1" lang="id-ID">
                <a:solidFill>
                  <a:srgbClr val="FFFFFF"/>
                </a:solidFill>
                <a:latin typeface="Aptos"/>
              </a:rPr>
              <a:t>Black Box Testing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77240" y="2468880"/>
            <a:ext cx="3246120" cy="1600200"/>
          </a:xfrm>
          <a:prstGeom prst="roundRect">
            <a:avLst/>
          </a:prstGeom>
          <a:solidFill>
            <a:srgbClr val="EFF6FF"/>
          </a:solidFill>
          <a:ln w="10000">
            <a:solidFill>
              <a:srgbClr val="BFDBFE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60 skenario fitur utama: verifikasi, login, dashboard, upload, daftar, edit, hapus, log, user, role, throttle.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462272" y="1737360"/>
            <a:ext cx="324612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000" b="1" lang="id-ID">
                <a:solidFill>
                  <a:srgbClr val="FFFFFF"/>
                </a:solidFill>
                <a:latin typeface="Aptos"/>
              </a:rPr>
              <a:t>Security Testing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462272" y="2468880"/>
            <a:ext cx="3246120" cy="1600200"/>
          </a:xfrm>
          <a:prstGeom prst="roundRect">
            <a:avLst/>
          </a:prstGeom>
          <a:solidFill>
            <a:srgbClr val="F0FDFA"/>
          </a:solidFill>
          <a:ln w="10000">
            <a:solidFill>
              <a:srgbClr val="99F6E4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14 skenario: integritas file, pemalsuan QR, kontrol akses, session, dan OWASP Top 10 2021.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147304" y="1737360"/>
            <a:ext cx="32461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000" b="1" lang="id-ID">
                <a:solidFill>
                  <a:srgbClr val="FFFFFF"/>
                </a:solidFill>
                <a:latin typeface="Aptos"/>
              </a:rPr>
              <a:t>Kuesioner Likert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147304" y="2468880"/>
            <a:ext cx="3246120" cy="1600200"/>
          </a:xfrm>
          <a:prstGeom prst="roundRect">
            <a:avLst/>
          </a:prstGeom>
          <a:solidFill>
            <a:srgbClr val="F5F3FF"/>
          </a:solidFill>
          <a:ln w="10000">
            <a:solidFill>
              <a:srgbClr val="DDD6FE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20 responden: 3 SuperAdmin, 7 Admin, dan 10 Viewer/Verifikator untuk mengukur kepuasan dan kemudahan.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2743200" y="4480560"/>
            <a:ext cx="6766560" cy="120700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2834640" y="5385816"/>
            <a:ext cx="65836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Hasil eksekusi script pengujian otomatis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PENGUJIAN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Instrumen dan Cakupan Pengujian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Pengujian memastikan sistem layak secara fungsi, keamanan, dan penerimaan pengguna.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20/29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8" name="image3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852928" y="2972729"/>
            <a:ext cx="6547104" cy="3984925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77240" y="1719072"/>
            <a:ext cx="219456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77240" y="2359152"/>
            <a:ext cx="21945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Total skenario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310128" y="1719072"/>
            <a:ext cx="219456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310128" y="2359152"/>
            <a:ext cx="21945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843016" y="1719072"/>
            <a:ext cx="219456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843016" y="2359152"/>
            <a:ext cx="21945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375904" y="1719072"/>
            <a:ext cx="219456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375904" y="2359152"/>
            <a:ext cx="21945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Keberhasilan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68680" y="3127248"/>
            <a:ext cx="5074920" cy="2286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960120" y="5111496"/>
            <a:ext cx="489204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PHPUnit: 71 tests, 175 assertions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263640" y="333756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Modul diuji meliputi verifikasi manual, QR upload, scan kamera, login/logout, dashboard, upload, daftar, edit, hapus, log aktivitas, manajemen user, otorisasi, dan pembatasan request.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Kategori kualitas: Sangat Baik.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4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HASIL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Hasil Black Box Testing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Seluruh fitur utama berjalan sesuai output yang diharapkan.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21/29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30" name="image3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978407" y="2673725"/>
            <a:ext cx="4855464" cy="2955301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77240" y="1691640"/>
            <a:ext cx="219456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77240" y="2331720"/>
            <a:ext cx="21945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Total skenario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310128" y="1691640"/>
            <a:ext cx="219456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310128" y="2331720"/>
            <a:ext cx="21945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843016" y="1691640"/>
            <a:ext cx="219456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843016" y="2331720"/>
            <a:ext cx="21945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375904" y="1691640"/>
            <a:ext cx="219456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375904" y="2331720"/>
            <a:ext cx="21945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Keamanan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49808" y="2971800"/>
            <a:ext cx="3337560" cy="15087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841247" y="4178808"/>
            <a:ext cx="315467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Integritas dokumen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315968" y="2971800"/>
            <a:ext cx="3337560" cy="15087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4" name="Text"/>
          <p:cNvSpPr txBox="1"/>
          <p:nvPr/>
        </p:nvSpPr>
        <p:spPr>
          <a:xfrm>
            <a:off x="4407407" y="4178808"/>
            <a:ext cx="315467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Pemalsuan QR Code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882127" y="2971800"/>
            <a:ext cx="3337560" cy="15087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7" name="Text"/>
          <p:cNvSpPr txBox="1"/>
          <p:nvPr/>
        </p:nvSpPr>
        <p:spPr>
          <a:xfrm>
            <a:off x="7973567" y="4178808"/>
            <a:ext cx="315467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Kontrol akses RBAC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987552" y="4956048"/>
            <a:ext cx="99669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0" lang="id-ID">
                <a:solidFill>
                  <a:srgbClr val="475569"/>
                </a:solidFill>
                <a:latin typeface="Aptos"/>
              </a:rPr>
              <a:t>Kategori keamanan: Sangat Aman. Skenario meliputi integritas dokumen, QR palsu, akses di luar role, manipulasi session, SQL injection, login berulang, dan manipulasi data.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40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HASIL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Hasil Security Testing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Pengujian keamanan menunjukkan seluruh skenario dapat ditangani.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22/29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30" name="image35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646675" y="3081528"/>
            <a:ext cx="1543824" cy="105156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3" name="image36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5057609" y="3081528"/>
            <a:ext cx="1854277" cy="105156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6" name="image37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795027" y="3081528"/>
            <a:ext cx="1511761" cy="105156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594360" y="1572768"/>
            <a:ext cx="2743200" cy="15361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685800" y="280720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Manipulasi session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547872" y="1572768"/>
            <a:ext cx="2743200" cy="15361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3639312" y="280720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Broken Access Control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501384" y="1572768"/>
            <a:ext cx="2743200" cy="15361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6592824" y="280720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Cryptographic Failures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454896" y="1572768"/>
            <a:ext cx="2148840" cy="15361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2" name="Text"/>
          <p:cNvSpPr txBox="1"/>
          <p:nvPr/>
        </p:nvSpPr>
        <p:spPr>
          <a:xfrm>
            <a:off x="9546336" y="2807208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Injection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1417320" y="3767328"/>
            <a:ext cx="2926080" cy="162763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5" name="Text"/>
          <p:cNvSpPr txBox="1"/>
          <p:nvPr/>
        </p:nvSpPr>
        <p:spPr>
          <a:xfrm>
            <a:off x="1508760" y="5093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Authentication Failures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4663440" y="3767328"/>
            <a:ext cx="2926080" cy="162763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8" name="Text"/>
          <p:cNvSpPr txBox="1"/>
          <p:nvPr/>
        </p:nvSpPr>
        <p:spPr>
          <a:xfrm>
            <a:off x="4754879" y="50932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Software/Data Integrity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882127" y="3913632"/>
            <a:ext cx="3246120" cy="1170432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600" b="0" lang="id-ID">
                <a:solidFill>
                  <a:srgbClr val="475569"/>
                </a:solidFill>
                <a:latin typeface="Aptos"/>
              </a:rPr>
              <a:t>Seluruh skenario tambahan berstatus berhasil dan digunakan sebagai bukti bahwa sistem menolak akses tidak sah, input berbahaya, login berulang, serta manipulasi data/file.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41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HASIL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Bukti Security Testing Lanjutan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Screenshot tambahan melengkapi dokumentasi pengujian keamanan berbasis OWASP.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23/29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38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04088" y="1907849"/>
            <a:ext cx="2523744" cy="628285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5" name="image39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4424291" y="1682495"/>
            <a:ext cx="990360" cy="107899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8" name="image40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6960207" y="1682495"/>
            <a:ext cx="1825553" cy="107899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1" name="image41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10050496" y="1682495"/>
            <a:ext cx="957638" cy="107899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4" name="image42.png"/>
          <p:cNvPicPr/>
          <p:nvPr/>
        </p:nvPicPr>
        <p:blipFill>
          <a:blip r:embed="rId7"/>
          <a:stretch>
            <a:fillRect/>
          </a:stretch>
        </p:blipFill>
        <p:spPr>
          <a:xfrm>
            <a:off x="1836624" y="3877056"/>
            <a:ext cx="2087471" cy="117043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7" name="image43.png"/>
          <p:cNvPicPr/>
          <p:nvPr/>
        </p:nvPicPr>
        <p:blipFill>
          <a:blip r:embed="rId8"/>
          <a:stretch>
            <a:fillRect/>
          </a:stretch>
        </p:blipFill>
        <p:spPr>
          <a:xfrm>
            <a:off x="5025254" y="3877056"/>
            <a:ext cx="2202451" cy="117043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77240" y="1719072"/>
            <a:ext cx="201168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77240" y="2359152"/>
            <a:ext cx="20116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Responden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127248" y="1719072"/>
            <a:ext cx="228600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1641/1855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127248" y="2359152"/>
            <a:ext cx="228600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Skor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733288" y="1719072"/>
            <a:ext cx="2286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88,46%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733288" y="2359152"/>
            <a:ext cx="228600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Persentase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339327" y="1719072"/>
            <a:ext cx="201168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4,42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339327" y="2359152"/>
            <a:ext cx="20116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Rata-rata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41248" y="3154680"/>
            <a:ext cx="3246120" cy="178308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932688" y="4636008"/>
            <a:ext cx="306323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Form SuperAdmin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407408" y="3154680"/>
            <a:ext cx="3246120" cy="178308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4" name="Text"/>
          <p:cNvSpPr txBox="1"/>
          <p:nvPr/>
        </p:nvSpPr>
        <p:spPr>
          <a:xfrm>
            <a:off x="4498848" y="4636008"/>
            <a:ext cx="306323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Form Admin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973568" y="3154680"/>
            <a:ext cx="3246120" cy="178308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7" name="Text"/>
          <p:cNvSpPr txBox="1"/>
          <p:nvPr/>
        </p:nvSpPr>
        <p:spPr>
          <a:xfrm>
            <a:off x="8065008" y="4636008"/>
            <a:ext cx="306323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Form Viewer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005840" y="5321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0" lang="id-ID">
                <a:solidFill>
                  <a:srgbClr val="475569"/>
                </a:solidFill>
                <a:latin typeface="Aptos"/>
              </a:rPr>
              <a:t>Interpretasi: sistem memenuhi kebutuhan pengguna dari segi fungsionalitas, kemudahan penggunaan, keamanan, dan kinerja.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40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HASIL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Hasil Kuesioner Skala Likert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Evaluasi pengguna menunjukkan sistem diterima dengan kategori Sangat Baik.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24/29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30" name="image4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950976" y="3013319"/>
            <a:ext cx="3026663" cy="1828056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3" name="image45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4517136" y="3013355"/>
            <a:ext cx="3026663" cy="1827985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6" name="image46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083296" y="3013355"/>
            <a:ext cx="3026663" cy="1827985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13232" y="1627632"/>
            <a:ext cx="2560320" cy="19659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804672" y="3291839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Responden uji coba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456432" y="1627632"/>
            <a:ext cx="2560320" cy="19659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3547872" y="3291839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Penggunaan sistem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199632" y="1627632"/>
            <a:ext cx="2560320" cy="19659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6291072" y="3291839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Pendampingan pengisian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942832" y="1627632"/>
            <a:ext cx="2560320" cy="196596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2" name="Text"/>
          <p:cNvSpPr txBox="1"/>
          <p:nvPr/>
        </p:nvSpPr>
        <p:spPr>
          <a:xfrm>
            <a:off x="9034272" y="3291839"/>
            <a:ext cx="237743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Evaluasi responden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60120" y="4343400"/>
            <a:ext cx="9784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Responden mencoba fitur sesuai peran masing-masing.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Kuesioner digunakan untuk menilai kemudahan, tampilan, informasi, keamanan, manfaat, dan kinerja sistem.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Hasil akhir memperoleh kategori Sangat Baik.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HASIL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Dokumentasi Pengisian Kuesioner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Dokumentasi menunjukkan proses uji coba dan pengisian kuesioner oleh responden.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25/29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47.jpeg"/>
          <p:cNvPicPr/>
          <p:nvPr/>
        </p:nvPicPr>
        <p:blipFill>
          <a:blip r:embed="rId3"/>
          <a:stretch>
            <a:fillRect/>
          </a:stretch>
        </p:blipFill>
        <p:spPr>
          <a:xfrm>
            <a:off x="311150" y="1737360"/>
            <a:ext cx="3364482" cy="150876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5" name="image48.jpeg"/>
          <p:cNvPicPr/>
          <p:nvPr/>
        </p:nvPicPr>
        <p:blipFill>
          <a:blip r:embed="rId4"/>
          <a:stretch>
            <a:fillRect/>
          </a:stretch>
        </p:blipFill>
        <p:spPr>
          <a:xfrm>
            <a:off x="3566160" y="932353"/>
            <a:ext cx="2340863" cy="3118773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8" name="image54.jpeg"/>
          <p:cNvPicPr/>
          <p:nvPr/>
        </p:nvPicPr>
        <p:blipFill>
          <a:blip r:embed="rId5"/>
          <a:stretch>
            <a:fillRect/>
          </a:stretch>
        </p:blipFill>
        <p:spPr>
          <a:xfrm>
            <a:off x="6309360" y="1613227"/>
            <a:ext cx="2340863" cy="1757024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1" name="image55.jpeg"/>
          <p:cNvPicPr/>
          <p:nvPr/>
        </p:nvPicPr>
        <p:blipFill>
          <a:blip r:embed="rId6"/>
          <a:stretch>
            <a:fillRect/>
          </a:stretch>
        </p:blipFill>
        <p:spPr>
          <a:xfrm>
            <a:off x="9052559" y="1616083"/>
            <a:ext cx="2340863" cy="1751313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urpl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41248" y="1783080"/>
            <a:ext cx="9966960" cy="333756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Sistem mampu menggantikan proses verifikasi manual menjadi digital melalui nomor sertifikat dan QR Code.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SHA-256 berhasil membantu menjaga integritas dokumen dengan mendeteksi perubahan file.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RBAC berhasil membatasi akses fitur berdasarkan SuperAdmin, Admin, dan Viewer/Verifikator.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Activity log mendukung audit karena mencatat aktivitas penting pengguna.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Tantangan utama berada pada sinkronisasi data sertifikat, QR Code, hash, dan pembatasan akses agar tetap konsisten.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PEMBAHASAN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Pembahasan Hasil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Hasil pengujian mendukung hipotesis penelitian.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26/29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41248" y="1783080"/>
            <a:ext cx="9966960" cy="333756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Sistem autentikasi sertifikat digital berhasil diimplementasikan menggunakan Laravel 11 dengan arsitektur MVC.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QR Code, SHA-256, dan RBAC berhasil diterapkan sebagai mekanisme verifikasi, integritas dokumen, dan kontrol akses.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Black Box Testing menghasilkan tingkat keberhasilan 100% pada 60 skenario.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Security Testing menghasilkan tingkat keamanan 100% pada 14 skenario.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Kuesioner 20 responden memperoleh nilai 88,46% dengan kategori Sangat Baik.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PENUTUP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Kesimpulan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Kesimpulan ditarik dari implementasi, pengujian, dan evaluasi pengguna.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27/29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41248" y="1783080"/>
            <a:ext cx="9966960" cy="333756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Meningkatkan antarmuka agar lebih modern, responsif, dan nyaman digunakan pada perangkat mobile.</a:t>
            </a:r>
          </a:p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Menyempurnakan scan QR Code melalui kamera agar lebih cepat, stabil, dan akurat.</a:t>
            </a:r>
          </a:p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Mempertimbangkan pengembangan aplikasi mobile untuk verifikasi sertifikat.</a:t>
            </a:r>
          </a:p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Melakukan deployment pada server produksi dengan HTTPS.</a:t>
            </a:r>
          </a:p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Menambahkan Two-Factor Authentication untuk Admin dan SuperAdmin.</a:t>
            </a:r>
          </a:p>
          <a:p>
            <a:pPr algn="l"/>
            <a:r>
              <a:rPr sz="2100" b="0" lang="id-ID">
                <a:solidFill>
                  <a:srgbClr val="374151"/>
                </a:solidFill>
                <a:latin typeface="Aptos"/>
              </a:rPr>
              <a:t>- Memperluas security testing dengan penetration testing dan responden yang lebih beragam.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PENUTUP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Saran Pengembangan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Saran diarahkan untuk peningkatan penggunaan dan keamanan sistem.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28/29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2" name="Text"/>
          <p:cNvSpPr txBox="1"/>
          <p:nvPr/>
        </p:nvSpPr>
        <p:spPr>
          <a:xfrm>
            <a:off x="2331720" y="1572768"/>
            <a:ext cx="694944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3800" b="1" lang="id-ID">
                <a:solidFill>
                  <a:srgbClr val="FFFFFF"/>
                </a:solidFill>
                <a:latin typeface="Aptos"/>
              </a:rPr>
              <a:t>Pertanyaan dan Diskusi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2423160" y="2788920"/>
            <a:ext cx="6858000" cy="8686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ctr"/>
            <a:r>
              <a:rPr sz="2200" b="0" lang="id-ID">
                <a:solidFill>
                  <a:srgbClr val="334155"/>
                </a:solidFill>
                <a:latin typeface="Aptos"/>
              </a:rPr>
              <a:t>Implementasi Sistem Autentikasi Sertifikat Digital Berbasis QR Code dengan Keamanan SHA-256 dan RBAC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2834640" y="4224528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sz="1700" b="0" lang="id-ID">
                <a:solidFill>
                  <a:srgbClr val="475569"/>
                </a:solidFill>
                <a:latin typeface="Aptos"/>
              </a:rPr>
              <a:t>Arjuna Pramudya Renaldi | 22.403040.19</a:t>
            </a:r>
          </a:p>
          <a:p>
            <a:pPr algn="ctr"/>
            <a:r>
              <a:rPr sz="1700" b="0" lang="id-ID">
                <a:solidFill>
                  <a:srgbClr val="475569"/>
                </a:solidFill>
                <a:latin typeface="Aptos"/>
              </a:rPr>
              <a:t>Program Studi Teknik Komputer | Universitas Borneo Tarakan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PENUTUP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Terima Kasih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Diskusi dan tanya jawab.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29/29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1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1536192"/>
            <a:ext cx="1143000" cy="114300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BT Formal">
  <a:themeElements>
    <a:clrScheme name="UBT Formal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2563EB"/>
      </a:accent2>
      <a:accent3>
        <a:srgbClr val="7C3AED"/>
      </a:accent3>
      <a:accent4>
        <a:srgbClr val="DC2626"/>
      </a:accent4>
      <a:accent5>
        <a:srgbClr val="0891B2"/>
      </a:accent5>
      <a:accent6>
        <a:srgbClr val="47556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UBT Formal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29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 Seminar Hasil Skripsi Arjuna Profesional</dc:title>
  <dc:creator>Codex</dc:creator>
  <cp:lastModifiedBy>Codex</cp:lastModifiedBy>
  <dcterms:created xsi:type="dcterms:W3CDTF">2026-04-28T05:02:47Z</dcterms:created>
  <dcterms:modified xsi:type="dcterms:W3CDTF">2026-04-28T05:02:47Z</dcterms:modified>
</cp:coreProperties>
</file>