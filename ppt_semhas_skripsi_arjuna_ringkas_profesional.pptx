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3333333" cy="7500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00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Relationship Id="rId3" Type="http://schemas.openxmlformats.org/officeDocument/2006/relationships/image" Target="../media/media2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5.png"/><Relationship Id="rId3" Type="http://schemas.openxmlformats.org/officeDocument/2006/relationships/image" Target="../media/media6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5.png"/><Relationship Id="rId3" Type="http://schemas.openxmlformats.org/officeDocument/2006/relationships/image" Target="../media/media7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5.png"/><Relationship Id="rId3" Type="http://schemas.openxmlformats.org/officeDocument/2006/relationships/image" Target="../media/media8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Relationship Id="rId3" Type="http://schemas.openxmlformats.org/officeDocument/2006/relationships/image" Target="../media/media9.png"/><Relationship Id="rId4" Type="http://schemas.openxmlformats.org/officeDocument/2006/relationships/image" Target="../media/media10.png"/><Relationship Id="rId5" Type="http://schemas.openxmlformats.org/officeDocument/2006/relationships/image" Target="../media/media11.png"/><Relationship Id="rId6" Type="http://schemas.openxmlformats.org/officeDocument/2006/relationships/image" Target="../media/media1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Relationship Id="rId3" Type="http://schemas.openxmlformats.org/officeDocument/2006/relationships/image" Target="../media/media13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Relationship Id="rId3" Type="http://schemas.openxmlformats.org/officeDocument/2006/relationships/image" Target="../media/media14.png"/><Relationship Id="rId4" Type="http://schemas.openxmlformats.org/officeDocument/2006/relationships/image" Target="../media/media15.png"/><Relationship Id="rId5" Type="http://schemas.openxmlformats.org/officeDocument/2006/relationships/image" Target="../media/media16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4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a1.png"/><Relationship Id="rId3" Type="http://schemas.openxmlformats.org/officeDocument/2006/relationships/image" Target="../media/media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2" name="Text"/>
          <p:cNvSpPr txBox="1"/>
          <p:nvPr/>
        </p:nvSpPr>
        <p:spPr>
          <a:xfrm>
            <a:off x="1993392" y="1408176"/>
            <a:ext cx="4480560" cy="1298448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Arjuna Pramudya Renaldi</a:t>
            </a:r>
          </a:p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NPM: 22.403040.19</a:t>
            </a:r>
          </a:p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Program Studi Teknik Komputer</a:t>
            </a:r>
          </a:p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Fakultas Teknik</a:t>
            </a:r>
          </a:p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Universitas Borneo Tarakan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720840" y="1408176"/>
            <a:ext cx="4480560" cy="129844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FFFFFF"/>
                </a:solidFill>
                <a:latin typeface="Aptos"/>
              </a:rPr>
              <a:t>Seminar Hasil Skripsi</a:t>
            </a:r>
          </a:p>
          <a:p>
            <a:pPr algn="l"/>
            <a:r>
              <a:rPr sz="1800" b="0" lang="id-ID">
                <a:solidFill>
                  <a:srgbClr val="FFFFFF"/>
                </a:solidFill>
                <a:latin typeface="Aptos"/>
              </a:rPr>
              <a:t>Pembimbing I: Dedy Harto, S.T., M.T.</a:t>
            </a:r>
          </a:p>
          <a:p>
            <a:pPr algn="l"/>
            <a:r>
              <a:rPr sz="1800" b="0" lang="id-ID">
                <a:solidFill>
                  <a:srgbClr val="FFFFFF"/>
                </a:solidFill>
                <a:latin typeface="Aptos"/>
              </a:rPr>
              <a:t>Pembimbing II: Awang Pradana, S.Kom., M.Kom.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05840" y="4261104"/>
            <a:ext cx="201168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60/60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005840" y="4901184"/>
            <a:ext cx="20116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Black Box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3401568" y="4261104"/>
            <a:ext cx="201168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14/14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3401568" y="4901184"/>
            <a:ext cx="20116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Security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797296" y="4261104"/>
            <a:ext cx="201168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88,46%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797296" y="4901184"/>
            <a:ext cx="20116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Kuesioner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193024" y="4261104"/>
            <a:ext cx="242316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Sangat Baik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193024" y="4901184"/>
            <a:ext cx="24231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Kategori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COVER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Implementasi Sistem Autentikasi Sertifikat Digital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Berbasis QR Code dengan Keamanan SHA-256 dan RBAC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01/18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1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13232" y="1417320"/>
            <a:ext cx="1078992" cy="107899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960120" y="1783080"/>
            <a:ext cx="9875520" cy="33832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Latar belakang, rumusan masalah, dan tujuan penelitian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Metode penelitian dan instrumen pengujian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Rancangan inti: use case, DFD, dan ERD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Implementasi fitur dan keamanan: QR Code, SHA-256, RBAC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Hasil pengujian: Black Box, Security Testing, dan Kuesioner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Kesimpulan dan saran pengembangan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PEMBUKA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Agenda Presentasi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Materi dipadatkan pada bagian yang paling krusial.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02/18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86384" y="1719072"/>
            <a:ext cx="4709160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Masalah utama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86384" y="2432304"/>
            <a:ext cx="4800600" cy="21488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Verifikasi sertifikat manual lambat dan sulit diaudit.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Dokumen sertifikat digital rawan dipalsukan atau dimanipulasi.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Pengelolaan akses pengguna perlu dibatasi agar data tidak disalahgunakan.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144768" y="1719072"/>
            <a:ext cx="4709160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Solusi penelitian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144768" y="2432304"/>
            <a:ext cx="4800600" cy="21488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QR Code untuk mempercepat proses verifikasi.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SHA-256 untuk mendeteksi perubahan file sertifikat.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RBAC untuk membatasi akses SuperAdmin, Admin, dan Viewer/Verifikator.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Activity log untuk mendukung audit aktivitas sistem.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PENDAHULUAN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Masalah dan Solusi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Sistem dibangun untuk menjawab masalah keaslian dan pengelolaan sertifikat digital.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03/18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86384" y="1719072"/>
            <a:ext cx="4709160" cy="4754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Rumusan Masalah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86384" y="2432304"/>
            <a:ext cx="4800600" cy="22402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Bagaimana membangun sistem autentikasi sertifikat digital berbasis QR Code?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Bagaimana menerapkan SHA-256 dan RBAC untuk keamanan dokumen dan akses?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Bagaimana mengukur kelayakan sistem melalui pengujian fungsi, keamanan, dan pengguna?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144768" y="1719072"/>
            <a:ext cx="4709160" cy="47548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Tujuan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144768" y="2432304"/>
            <a:ext cx="4800600" cy="22402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Menghasilkan sistem pengelolaan dan verifikasi sertifikat digital.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Menerapkan QR Code, SHA-256, RBAC, dan activity log.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Membuktikan sistem berjalan baik melalui Black Box Testing, Security Testing, dan Kuesioner Likert.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PENDAHULUAN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Rumusan Masalah dan Tujuan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Rumusan dan tujuan diarahkan pada produk sistem yang dapat diuji.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04/18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urpl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68680" y="1783080"/>
            <a:ext cx="18288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R&amp;D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68680" y="2596896"/>
            <a:ext cx="2697480" cy="1325880"/>
          </a:xfrm>
          <a:prstGeom prst="roundRect">
            <a:avLst/>
          </a:prstGeom>
          <a:solidFill>
            <a:srgbClr val="EFF6FF"/>
          </a:solidFill>
          <a:ln w="10000">
            <a:solidFill>
              <a:srgbClr val="BFDBFE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Menghasilkan produk sistem yang dirancang, dibangun, diterapkan, dan dievaluasi.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886200" y="1783080"/>
            <a:ext cx="1828800" cy="566928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ADDIE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886200" y="2596896"/>
            <a:ext cx="2697480" cy="1325880"/>
          </a:xfrm>
          <a:prstGeom prst="roundRect">
            <a:avLst/>
          </a:prstGeom>
          <a:solidFill>
            <a:srgbClr val="F0FDFA"/>
          </a:solidFill>
          <a:ln w="10000">
            <a:solidFill>
              <a:srgbClr val="99F6E4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Analysis, Design, Development, Implementation, Evaluation.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903720" y="1783080"/>
            <a:ext cx="1828800" cy="56692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200" b="1" lang="id-ID">
                <a:solidFill>
                  <a:srgbClr val="FFFFFF"/>
                </a:solidFill>
                <a:latin typeface="Aptos"/>
              </a:rPr>
              <a:t>Evaluasi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903720" y="2596896"/>
            <a:ext cx="3063240" cy="1325880"/>
          </a:xfrm>
          <a:prstGeom prst="roundRect">
            <a:avLst/>
          </a:prstGeom>
          <a:solidFill>
            <a:srgbClr val="F5F3FF"/>
          </a:solidFill>
          <a:ln w="10000">
            <a:solidFill>
              <a:srgbClr val="DDD6FE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Black Box Testing, Security Testing berbasis OWASP, dan Kuesioner Skala Likert.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14400" y="4626864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Subjek evaluasi pengguna: 20 responden, terdiri dari 3 SuperAdmin, 7 Admin, dan 10 Viewer/Verifikator.</a:t>
            </a:r>
          </a:p>
          <a:p>
            <a:pPr algn="l"/>
            <a:r>
              <a:rPr sz="1800" b="0" lang="id-ID">
                <a:solidFill>
                  <a:srgbClr val="374151"/>
                </a:solidFill>
                <a:latin typeface="Aptos"/>
              </a:rPr>
              <a:t>- Pengujian otomatis digunakan agar hasil lebih konsisten dan dapat diulang.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METODE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Metode Penelitian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Penelitian menggunakan R&amp;D model ADDIE dengan evaluasi kuantitatif.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05/18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urpl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77240" y="1664208"/>
            <a:ext cx="19202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100" b="1" lang="id-ID">
                <a:solidFill>
                  <a:srgbClr val="FFFFFF"/>
                </a:solidFill>
                <a:latin typeface="Aptos"/>
              </a:rPr>
              <a:t>R&amp;D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2971800" y="1664208"/>
            <a:ext cx="7726679" cy="68580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Berperan sebagai pendekatan utama untuk menghasilkan produk berupa sistem autentikasi sertifikat digital, bukan hanya analisis teoritis.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777240" y="2651760"/>
            <a:ext cx="192024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100" b="1" lang="id-ID">
                <a:solidFill>
                  <a:srgbClr val="FFFFFF"/>
                </a:solidFill>
                <a:latin typeface="Aptos"/>
              </a:rPr>
              <a:t>ADDIE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2971800" y="2651760"/>
            <a:ext cx="7726679" cy="8686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Berperan sebagai tahapan pengembangan: Analysis untuk kebutuhan, Design untuk rancangan, Development untuk pembuatan sistem, Implementation untuk penerapan, dan Evaluation untuk pengujian.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77240" y="3822191"/>
            <a:ext cx="192024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2100" b="1" lang="id-ID">
                <a:solidFill>
                  <a:srgbClr val="FFFFFF"/>
                </a:solidFill>
                <a:latin typeface="Aptos"/>
              </a:rPr>
              <a:t>Kuantitatif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2971800" y="3822191"/>
            <a:ext cx="7726679" cy="8686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l"/>
            <a:r>
              <a:rPr sz="1800" b="0" lang="id-ID">
                <a:solidFill>
                  <a:srgbClr val="334155"/>
                </a:solidFill>
                <a:latin typeface="Aptos"/>
              </a:rPr>
              <a:t>Berperan untuk mengukur hasil secara angka melalui persentase keberhasilan Black Box Testing, tingkat keamanan Security Testing, dan skor Kuesioner Likert.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60120" y="5285232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sz="1800" b="0" lang="id-ID">
                <a:solidFill>
                  <a:srgbClr val="475569"/>
                </a:solidFill>
                <a:latin typeface="Aptos"/>
              </a:rPr>
              <a:t>Intinya, metode memastikan sistem dibangun berdasarkan kebutuhan, diuji secara objektif, dan dievaluasi dari sisi pengguna.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METODE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Peran Metode dalam Penelitian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Metode digunakan sebagai alur kerja agar pengembangan sistem terarah dan hasilnya dapat dipertanggungjawabkan.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06/18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49808" y="1499616"/>
            <a:ext cx="5577840" cy="464515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841247" y="5843016"/>
            <a:ext cx="539495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Use Case Diagram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629400" y="1874519"/>
            <a:ext cx="4343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Pengunjung/Verifier: verifikasi manual, scan QR, dan upload QR.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Admin: dashboard, upload sertifikat, daftar sertifikat, edit sertifikat, dan verifikasi admin.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SuperAdmin: seluruh fitur admin ditambah kelola user, hapus sertifikat, dan activity log.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Rancangan Aktor dan Fitur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Use case diagram menjadi gambaran utama pembagian fungsi sistem.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07/18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8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204066" y="1609343"/>
            <a:ext cx="2669323" cy="418795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658368" y="1444752"/>
            <a:ext cx="7086600" cy="47365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749808" y="5879592"/>
            <a:ext cx="69037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DFD Level 1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001000" y="1783080"/>
            <a:ext cx="3429000" cy="347472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Autentikasi memvalidasi akun dan session.</a:t>
            </a:r>
          </a:p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Upload sertifikat menghasilkan data sertifikat, hash, digital signature, dan QR Code.</a:t>
            </a:r>
          </a:p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Verifikasi mencocokkan nomor/QR dengan database dan mengecek integritas file.</a:t>
            </a:r>
          </a:p>
          <a:p>
            <a:pPr algn="l"/>
            <a:r>
              <a:rPr sz="1700" b="0" lang="id-ID">
                <a:solidFill>
                  <a:srgbClr val="374151"/>
                </a:solidFill>
                <a:latin typeface="Aptos"/>
              </a:rPr>
              <a:t>- Activity log mencatat aktivitas penting pengguna.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Aliran Data Sistem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DFD Level 1 dipilih karena paling menjelaskan proses sistem secara utuh.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08/18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10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195527" y="1554480"/>
            <a:ext cx="6012281" cy="427939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slat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749808" y="1444752"/>
            <a:ext cx="5715000" cy="4736592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841247" y="5879592"/>
            <a:ext cx="55321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Entity Relationship Diagram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784848" y="1828800"/>
            <a:ext cx="4389120" cy="30632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users: akun, role, dan status pengguna.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students: identitas pemilik sertifikat.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certificates: data sertifikat, file, QR Code, hash SHA-256, dan digital signature.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activity_logs: riwayat aktivitas untuk audit.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PERANCANGAN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Struktur Basis Data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ERD menunjukkan tabel inti yang menopang proses autentikasi sertifikat.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09/18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1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519454" y="1554480"/>
            <a:ext cx="4175706" cy="4279392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694944" y="1572768"/>
            <a:ext cx="5120640" cy="221284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786384" y="3483863"/>
            <a:ext cx="493775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Verifikasi publik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254496" y="1572768"/>
            <a:ext cx="5120640" cy="221284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6345936" y="3483863"/>
            <a:ext cx="493775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Upload sertifikat dan QR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94944" y="4114800"/>
            <a:ext cx="5120640" cy="184708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9" name="Text"/>
          <p:cNvSpPr txBox="1"/>
          <p:nvPr/>
        </p:nvSpPr>
        <p:spPr>
          <a:xfrm>
            <a:off x="786384" y="5660136"/>
            <a:ext cx="493775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Daftar sertifikat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254496" y="4114800"/>
            <a:ext cx="5120640" cy="184708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2" name="Text"/>
          <p:cNvSpPr txBox="1"/>
          <p:nvPr/>
        </p:nvSpPr>
        <p:spPr>
          <a:xfrm>
            <a:off x="6345936" y="5660136"/>
            <a:ext cx="4937759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Kelola user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4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IMPLEMENTASI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Implementasi Sistem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Tampilan utama dipilih secukupnya agar alur sistem tetap jelas.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10/18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2" name="image2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390188" y="1682495"/>
            <a:ext cx="3730150" cy="1755648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5" name="image28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7812145" y="1682495"/>
            <a:ext cx="2005340" cy="1755648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28" name="image29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2267840" y="4224528"/>
            <a:ext cx="1974846" cy="1389888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1" name="image32.png"/>
          <p:cNvPicPr/>
          <p:nvPr/>
        </p:nvPicPr>
        <p:blipFill>
          <a:blip r:embed="rId6"/>
          <a:stretch>
            <a:fillRect/>
          </a:stretch>
        </p:blipFill>
        <p:spPr>
          <a:xfrm>
            <a:off x="7679927" y="4224528"/>
            <a:ext cx="2269776" cy="1389888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41248" y="1691640"/>
            <a:ext cx="214884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SHA-256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41248" y="233172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Dokumen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374136" y="1691640"/>
            <a:ext cx="214884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QR Code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374136" y="233172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Verifikasi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907024" y="1691640"/>
            <a:ext cx="214884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RBAC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907024" y="233172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Akses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439912" y="1691640"/>
            <a:ext cx="214884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Log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439912" y="233172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Audit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14400" y="3401568"/>
            <a:ext cx="9875520" cy="1874519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Hash SHA-256 disimpan dan dibandingkan kembali saat sertifikat diverifikasi.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Digital signature dibentuk dari nomor sertifikat, NPM, dan hash file.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QR Code memuat data verifikasi agar proses pengecekan lebih cepat.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RBAC membatasi fitur berdasarkan role pengguna.</a:t>
            </a:r>
          </a:p>
          <a:p>
            <a:pPr algn="l"/>
            <a:r>
              <a:rPr sz="2000" b="0" lang="id-ID">
                <a:solidFill>
                  <a:srgbClr val="374151"/>
                </a:solidFill>
                <a:latin typeface="Aptos"/>
              </a:rPr>
              <a:t>- Activity log menyimpan jejak aktivitas login, upload, edit, hapus, dan pengelolaan user.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IMPLEMENTASI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Keamanan yang Diimplementasikan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Bagian ini menjadi inti kontribusi teknis sistem.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11/18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04672" y="1700784"/>
            <a:ext cx="224028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04672" y="2340864"/>
            <a:ext cx="22402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Total Skenario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364992" y="1700784"/>
            <a:ext cx="224028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364992" y="2340864"/>
            <a:ext cx="22402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925312" y="1700784"/>
            <a:ext cx="224028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925312" y="2340864"/>
            <a:ext cx="22402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485632" y="1700784"/>
            <a:ext cx="224028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485632" y="2340864"/>
            <a:ext cx="22402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Keberhasilan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60120" y="3154680"/>
            <a:ext cx="4846320" cy="2084831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1051560" y="493776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Bukti eksekusi pengujian otomatis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172200" y="3401568"/>
            <a:ext cx="4617720" cy="132588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Cakupan: verifikasi manual/QR, login, dashboard, upload, daftar, edit, hapus, activity log, manajemen user, otorisasi, dan throttle.</a:t>
            </a:r>
          </a:p>
          <a:p>
            <a:pPr algn="l"/>
            <a:r>
              <a:rPr sz="1900" b="0" lang="id-ID">
                <a:solidFill>
                  <a:srgbClr val="374151"/>
                </a:solidFill>
                <a:latin typeface="Aptos"/>
              </a:rPr>
              <a:t>- Hasil PHPUnit: 71 tests dan 175 assertions.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4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HASIL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Hasil Black Box Testing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Pengujian fungsional memastikan fitur berjalan sesuai kebutuhan.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12/18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30" name="image34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046206" y="3264408"/>
            <a:ext cx="2674146" cy="1627631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04672" y="1627632"/>
            <a:ext cx="224028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04672" y="2267712"/>
            <a:ext cx="22402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Total Skenario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364992" y="1627632"/>
            <a:ext cx="224028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364992" y="2267712"/>
            <a:ext cx="22402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Berhasil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925312" y="1627632"/>
            <a:ext cx="224028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925312" y="2267712"/>
            <a:ext cx="22402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Gagal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485632" y="1627632"/>
            <a:ext cx="224028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100%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485632" y="2267712"/>
            <a:ext cx="224028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Keamanan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86384" y="2889504"/>
            <a:ext cx="3383280" cy="148132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877824" y="4069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Integritas dokumen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443984" y="2889504"/>
            <a:ext cx="3383280" cy="148132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4" name="Text"/>
          <p:cNvSpPr txBox="1"/>
          <p:nvPr/>
        </p:nvSpPr>
        <p:spPr>
          <a:xfrm>
            <a:off x="4535424" y="4069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Kontrol akses RBAC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101583" y="2889504"/>
            <a:ext cx="3063240" cy="148132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D6DEE8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7" name="Text"/>
          <p:cNvSpPr txBox="1"/>
          <p:nvPr/>
        </p:nvSpPr>
        <p:spPr>
          <a:xfrm>
            <a:off x="8193023" y="4069080"/>
            <a:ext cx="2880360" cy="228600"/>
          </a:xfrm>
          <a:prstGeom prst="rect">
            <a:avLst/>
          </a:prstGeom>
          <a:noFill/>
          <a:ln>
            <a:noFill/>
          </a:ln>
        </p:spPr>
        <p:txBody>
          <a:bodyPr wrap="square" lIns="10000" tIns="10000" rIns="10000" bIns="10000"/>
          <a:lstStyle/>
          <a:p>
            <a:pPr algn="ctr"/>
            <a:r>
              <a:rPr sz="1000" b="0" lang="id-ID">
                <a:solidFill>
                  <a:srgbClr val="64748B"/>
                </a:solidFill>
                <a:latin typeface="Aptos"/>
              </a:rPr>
              <a:t>Software/Data Integrity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960120" y="4956048"/>
            <a:ext cx="98755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800" b="0" lang="id-ID">
                <a:solidFill>
                  <a:srgbClr val="475569"/>
                </a:solidFill>
                <a:latin typeface="Aptos"/>
              </a:rPr>
              <a:t>Cakupan penting: integritas file, pemalsuan QR, akses di luar role, manipulasi session, SQL injection, login berulang, dan manipulasi data/file.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40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HASIL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Hasil Security Testing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Security testing menjadi bukti bahwa mekanisme keamanan berjalan.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13/18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30" name="image35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1726248" y="2999232"/>
            <a:ext cx="1503550" cy="1024128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3" name="image37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99461" y="2999232"/>
            <a:ext cx="1472324" cy="1024128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  <p:pic>
        <p:nvPicPr>
          <p:cNvPr id="36" name="image43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8669631" y="2999232"/>
            <a:ext cx="1927145" cy="1024128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blu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868680" y="1783080"/>
            <a:ext cx="2148840" cy="5852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68680" y="242316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Responden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429000" y="1783080"/>
            <a:ext cx="2423160" cy="58521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1641/1855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429000" y="2423160"/>
            <a:ext cx="242316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Total Skor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263640" y="1783080"/>
            <a:ext cx="214884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88,46%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263640" y="2423160"/>
            <a:ext cx="214884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Persentase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823960" y="1783080"/>
            <a:ext cx="2331720" cy="58521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2800" b="1" lang="id-ID">
                <a:solidFill>
                  <a:srgbClr val="FFFFFF"/>
                </a:solidFill>
                <a:latin typeface="Aptos"/>
              </a:rPr>
              <a:t>Sangat Baik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823960" y="2423160"/>
            <a:ext cx="2331720" cy="4114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65000" tIns="65000" rIns="65000" bIns="65000"/>
          <a:lstStyle/>
          <a:p>
            <a:pPr algn="ctr"/>
            <a:r>
              <a:rPr sz="1200" b="0" lang="id-ID">
                <a:solidFill>
                  <a:srgbClr val="475569"/>
                </a:solidFill>
                <a:latin typeface="Aptos"/>
              </a:rPr>
              <a:t>Kategori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51560" y="3456432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SuperAdmin: 3 responden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Admin: 7 responden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Viewer/Verifikator: 10 responden</a:t>
            </a:r>
          </a:p>
          <a:p>
            <a:pPr algn="l"/>
            <a:r>
              <a:rPr sz="2200" b="0" lang="id-ID">
                <a:solidFill>
                  <a:srgbClr val="374151"/>
                </a:solidFill>
                <a:latin typeface="Aptos"/>
              </a:rPr>
              <a:t>- Interpretasi: sistem diterima dengan sangat baik dari sisi fungsi, kemudahan, keamanan, manfaat, dan kinerja.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31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HASIL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Hasil Kuesioner Skala Likert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Hanya rekap inti ditampilkan agar deck tidak terlalu penuh.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14/18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purpl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914400" y="1783080"/>
            <a:ext cx="9875520" cy="3429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QR Code mempercepat verifikasi karena pengguna tidak perlu mencari data secara manual.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SHA-256 membantu mendeteksi perubahan file sehingga keaslian dokumen lebih terjaga.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RBAC mencegah akses fitur yang tidak sesuai dengan peran pengguna.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Activity log membuat perubahan data lebih mudah diaudit.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Kuesioner menunjukkan sistem dinilai layak digunakan oleh pengguna dengan kategori Sangat Baik.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PEMBAHASAN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Pembahasan Krusial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Hasil pengujian menunjukkan sistem menjawab kebutuhan penelitian.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15/18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914400" y="1783080"/>
            <a:ext cx="9875520" cy="3429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Sistem autentikasi sertifikat digital berhasil dibangun menggunakan Laravel 11.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QR Code, SHA-256, dan RBAC berhasil diterapkan sebagai mekanisme verifikasi, integritas, dan kontrol akses.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Black Box Testing menunjukkan keberhasilan 100% pada 60 skenario.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Security Testing menunjukkan keberhasilan 100% pada 14 skenario.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Kuesioner memperoleh nilai 88,46% dengan kategori Sangat Baik.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PENUTUP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Kesimpulan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Kesimpulan utama disusun sesuai hasil implementasi dan pengujian.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16/18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1" name="Text"/>
          <p:cNvSpPr txBox="1"/>
          <p:nvPr/>
        </p:nvSpPr>
        <p:spPr>
          <a:xfrm>
            <a:off x="914400" y="1783080"/>
            <a:ext cx="9875520" cy="3429000"/>
          </a:xfrm>
          <a:prstGeom prst="rect">
            <a:avLst/>
          </a:prstGeom>
          <a:noFill/>
          <a:ln>
            <a:noFill/>
          </a:ln>
        </p:spPr>
        <p:txBody>
          <a:bodyPr wrap="square" lIns="100000" tIns="100000" rIns="100000" bIns="100000"/>
          <a:lstStyle/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Meningkatkan tampilan agar lebih responsif dan nyaman pada perangkat mobile.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Menyempurnakan scan QR melalui kamera agar lebih stabil dan akurat.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Melakukan deployment production dengan HTTPS.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Menambahkan Two-Factor Authentication untuk Admin dan SuperAdmin.</a:t>
            </a:r>
          </a:p>
          <a:p>
            <a:pPr algn="l"/>
            <a:r>
              <a:rPr sz="2300" b="0" lang="id-ID">
                <a:solidFill>
                  <a:srgbClr val="374151"/>
                </a:solidFill>
                <a:latin typeface="Aptos"/>
              </a:rPr>
              <a:t>- Memperluas pengujian keamanan dengan penetration testing.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3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PENUTUP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Saran Pengembangan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Saran diarahkan untuk peningkatan sistem pada tahap berikutnya.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17/18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teal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  <a:ln>
            <a:noFill/>
          </a:ln>
        </p:spPr>
      </p:pic>
      <p:sp>
        <p:nvSpPr>
          <p:cNvPr id="22" name="Text"/>
          <p:cNvSpPr txBox="1"/>
          <p:nvPr/>
        </p:nvSpPr>
        <p:spPr>
          <a:xfrm>
            <a:off x="2331720" y="1572768"/>
            <a:ext cx="6949440" cy="731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100000" tIns="100000" rIns="100000" bIns="100000"/>
          <a:lstStyle/>
          <a:p>
            <a:pPr algn="ctr"/>
            <a:r>
              <a:rPr sz="3800" b="1" lang="id-ID">
                <a:solidFill>
                  <a:srgbClr val="FFFFFF"/>
                </a:solidFill>
                <a:latin typeface="Aptos"/>
              </a:rPr>
              <a:t>Pertanyaan dan Diskusi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2423160" y="2788920"/>
            <a:ext cx="6858000" cy="868680"/>
          </a:xfrm>
          <a:prstGeom prst="roundRect">
            <a:avLst/>
          </a:prstGeom>
          <a:solidFill>
            <a:srgbClr val="F8FAFC"/>
          </a:solidFill>
          <a:ln w="10000">
            <a:solidFill>
              <a:srgbClr val="D6DEE8"/>
            </a:solidFill>
          </a:ln>
        </p:spPr>
        <p:txBody>
          <a:bodyPr wrap="square" lIns="100000" tIns="100000" rIns="100000" bIns="100000"/>
          <a:lstStyle/>
          <a:p>
            <a:pPr algn="ctr"/>
            <a:r>
              <a:rPr sz="2200" b="0" lang="id-ID">
                <a:solidFill>
                  <a:srgbClr val="334155"/>
                </a:solidFill>
                <a:latin typeface="Aptos"/>
              </a:rPr>
              <a:t>Implementasi Sistem Autentikasi Sertifikat Digital Berbasis QR Code dengan Keamanan SHA-256 dan RBAC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2834640" y="4224528"/>
            <a:ext cx="60350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sz="1700" b="0" lang="id-ID">
                <a:solidFill>
                  <a:srgbClr val="475569"/>
                </a:solidFill>
                <a:latin typeface="Aptos"/>
              </a:rPr>
              <a:t>Arjuna Pramudya Renaldi | 22.403040.19</a:t>
            </a:r>
          </a:p>
          <a:p>
            <a:pPr algn="ctr"/>
            <a:r>
              <a:rPr sz="1700" b="0" lang="id-ID">
                <a:solidFill>
                  <a:srgbClr val="475569"/>
                </a:solidFill>
                <a:latin typeface="Aptos"/>
              </a:rPr>
              <a:t>Program Studi Teknik Komputer | Universitas Borneo Tarakan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F766E"/>
          </a:solidFill>
          <a:ln w="10000">
            <a:solidFill>
              <a:srgbClr val="0F766E"/>
            </a:solidFill>
          </a:ln>
        </p:spPr>
        <p:txBody>
          <a:bodyPr wrap="square" lIns="0" tIns="0" rIns="0" bIns="0"/>
          <a:lstStyle/>
          <a:p>
            <a:pPr algn="l"/>
            <a:r>
              <a:rPr sz="2000" b="0" lang="id-ID">
                <a:solidFill>
                  <a:srgbClr val="263238"/>
                </a:solidFill>
                <a:latin typeface="Aptos"/>
              </a:rPr>
              <a:t/>
            </a:r>
          </a:p>
        </p:txBody>
      </p:sp>
      <p:sp>
        <p:nvSpPr>
          <p:cNvPr id="26" name="Text"/>
          <p:cNvSpPr txBox="1"/>
          <p:nvPr/>
        </p:nvSpPr>
        <p:spPr>
          <a:xfrm>
            <a:off x="530352" y="320040"/>
            <a:ext cx="1691640" cy="347472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lIns="65000" tIns="65000" rIns="65000" bIns="65000"/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Aptos"/>
              </a:rPr>
              <a:t>PENUTUP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530352" y="694944"/>
            <a:ext cx="99669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2700" b="1" lang="id-ID">
                <a:solidFill>
                  <a:srgbClr val="111827"/>
                </a:solidFill>
                <a:latin typeface="Aptos"/>
              </a:rPr>
              <a:t>Terima Kasih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1124712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200" b="0" lang="id-ID">
                <a:solidFill>
                  <a:srgbClr val="64748B"/>
                </a:solidFill>
                <a:latin typeface="Aptos"/>
              </a:rPr>
              <a:t>Diskusi dan tanya jawab.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927080" y="6327648"/>
            <a:ext cx="685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sz="1000" b="0" lang="id-ID">
                <a:solidFill>
                  <a:srgbClr val="64748B"/>
                </a:solidFill>
                <a:latin typeface="Aptos"/>
              </a:rPr>
              <a:t>18/18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30352" y="6327648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sz="1000" b="0" lang="id-ID">
                <a:solidFill>
                  <a:srgbClr val="64748B"/>
                </a:solidFill>
                <a:latin typeface="Aptos"/>
              </a:rPr>
              <a:t>Seminar Hasil Skripsi | Teknik Komputer UBT</a:t>
            </a:r>
          </a:p>
        </p:txBody>
      </p:sp>
      <p:pic>
        <p:nvPicPr>
          <p:cNvPr id="21" name="image1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1536192"/>
            <a:ext cx="1143000" cy="1143000"/>
          </a:xfrm>
          <a:prstGeom prst="rect">
            <a:avLst/>
          </a:prstGeom>
          <a:ln w="6350">
            <a:solidFill>
              <a:srgbClr val="D6DEE8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BT Formal">
  <a:themeElements>
    <a:clrScheme name="UBT Formal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2563EB"/>
      </a:accent2>
      <a:accent3>
        <a:srgbClr val="7C3AED"/>
      </a:accent3>
      <a:accent4>
        <a:srgbClr val="DC2626"/>
      </a:accent4>
      <a:accent5>
        <a:srgbClr val="0891B2"/>
      </a:accent5>
      <a:accent6>
        <a:srgbClr val="47556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UBT Formal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 Seminar Hasil Skripsi Arjuna Profesional</dc:title>
  <dc:creator>Codex</dc:creator>
  <cp:lastModifiedBy>Codex</cp:lastModifiedBy>
  <dcterms:created xsi:type="dcterms:W3CDTF">2026-04-28T05:13:50Z</dcterms:created>
  <dcterms:modified xsi:type="dcterms:W3CDTF">2026-04-28T05:13:50Z</dcterms:modified>
</cp:coreProperties>
</file>