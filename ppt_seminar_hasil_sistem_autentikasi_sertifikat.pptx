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3333333" cy="7500000" type="wide"/>
  <p:notesSz cx="6858000" cy="9144000"/>
  <p:defaultTextStyle/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00" Type="http://schemas.openxmlformats.org/officeDocument/2006/relationships/theme" Target="theme/theme1.xml"/><Relationship Id="rId101" Type="http://schemas.openxmlformats.org/officeDocument/2006/relationships/presProps" Target="presProps.xml"/><Relationship Id="rId102" Type="http://schemas.openxmlformats.org/officeDocument/2006/relationships/viewProps" Target="viewProps.xml"/><Relationship Id="rId103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"/>
          <p:cNvSpPr txBox="1"/>
          <p:nvPr/>
        </p:nvSpPr>
        <p:spPr>
          <a:xfrm>
            <a:off x="713232" y="1737360"/>
            <a:ext cx="475488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2000" b="0" lang="id-ID">
                <a:solidFill>
                  <a:srgbClr val="334155"/>
                </a:solidFill>
                <a:latin typeface="Aptos"/>
              </a:rPr>
              <a:t>Nama: Arjuna</a:t>
            </a:r>
          </a:p>
          <a:p>
            <a:pPr marL="0"/>
            <a:r>
              <a:rPr sz="2000" b="0" lang="id-ID">
                <a:solidFill>
                  <a:srgbClr val="334155"/>
                </a:solidFill>
                <a:latin typeface="Aptos"/>
              </a:rPr>
              <a:t>NIM: [isi NIM]</a:t>
            </a:r>
          </a:p>
          <a:p>
            <a:pPr marL="0"/>
            <a:r>
              <a:rPr sz="2000" b="0" lang="id-ID">
                <a:solidFill>
                  <a:srgbClr val="334155"/>
                </a:solidFill>
                <a:latin typeface="Aptos"/>
              </a:rPr>
              <a:t>Program Studi: [isi prodi]</a:t>
            </a:r>
          </a:p>
          <a:p>
            <a:pPr marL="0"/>
            <a:r>
              <a:rPr sz="2000" b="0" lang="id-ID">
                <a:solidFill>
                  <a:srgbClr val="334155"/>
                </a:solidFill>
                <a:latin typeface="Aptos"/>
              </a:rPr>
              <a:t>Dosen Pembimbing: [isi nama dosen]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5715000" y="1737360"/>
            <a:ext cx="5440680" cy="224028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2200" b="0" lang="id-ID">
                <a:solidFill>
                  <a:srgbClr val="FFFFFF"/>
                </a:solidFill>
                <a:latin typeface="Aptos"/>
              </a:rPr>
              <a:t>Fokus penelitian:</a:t>
            </a:r>
          </a:p>
          <a:p>
            <a:pPr marL="0"/>
            <a:r>
              <a:rPr sz="2200" b="0" lang="id-ID">
                <a:solidFill>
                  <a:srgbClr val="FFFFFF"/>
                </a:solidFill>
                <a:latin typeface="Aptos"/>
              </a:rPr>
              <a:t>Membangun sistem untuk mengelola, memverifikasi, dan menjaga integritas sertifikat digital melalui nomor sertifikat, QR Code, hak akses pengguna, dan pengecekan hash file.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713232" y="4800600"/>
            <a:ext cx="2011680" cy="5669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 wrap="square" lIns="90000" tIns="90000" rIns="90000" bIns="90000"/>
          <a:lstStyle/>
          <a:p>
            <a:pPr marL="0"/>
            <a:r>
              <a:rPr sz="3000" b="1" lang="id-ID">
                <a:solidFill>
                  <a:srgbClr val="FFFFFF"/>
                </a:solidFill>
                <a:latin typeface="Aptos"/>
              </a:rPr>
              <a:t>60/60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713232" y="5404104"/>
            <a:ext cx="2011680" cy="4389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txBody>
          <a:bodyPr wrap="square" lIns="80000" tIns="80000" rIns="80000" bIns="80000"/>
          <a:lstStyle/>
          <a:p>
            <a:pPr marL="0"/>
            <a:r>
              <a:rPr sz="1300" b="0" lang="id-ID">
                <a:solidFill>
                  <a:srgbClr val="475569"/>
                </a:solidFill>
                <a:latin typeface="Aptos"/>
              </a:rPr>
              <a:t>Black box testing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2944368" y="4800600"/>
            <a:ext cx="2011680" cy="566928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90000" tIns="90000" rIns="90000" bIns="90000"/>
          <a:lstStyle/>
          <a:p>
            <a:pPr marL="0"/>
            <a:r>
              <a:rPr sz="3000" b="1" lang="id-ID">
                <a:solidFill>
                  <a:srgbClr val="FFFFFF"/>
                </a:solidFill>
                <a:latin typeface="Aptos"/>
              </a:rPr>
              <a:t>9/9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2944368" y="5404104"/>
            <a:ext cx="2011680" cy="4389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txBody>
          <a:bodyPr wrap="square" lIns="80000" tIns="80000" rIns="80000" bIns="80000"/>
          <a:lstStyle/>
          <a:p>
            <a:pPr marL="0"/>
            <a:r>
              <a:rPr sz="1300" b="0" lang="id-ID">
                <a:solidFill>
                  <a:srgbClr val="475569"/>
                </a:solidFill>
                <a:latin typeface="Aptos"/>
              </a:rPr>
              <a:t>Security testing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5175504" y="4800600"/>
            <a:ext cx="2011680" cy="56692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txBody>
          <a:bodyPr wrap="square" lIns="90000" tIns="90000" rIns="90000" bIns="90000"/>
          <a:lstStyle/>
          <a:p>
            <a:pPr marL="0"/>
            <a:r>
              <a:rPr sz="3000" b="1" lang="id-ID">
                <a:solidFill>
                  <a:srgbClr val="FFFFFF"/>
                </a:solidFill>
                <a:latin typeface="Aptos"/>
              </a:rPr>
              <a:t>23/23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5175504" y="5404104"/>
            <a:ext cx="2011680" cy="4389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txBody>
          <a:bodyPr wrap="square" lIns="80000" tIns="80000" rIns="80000" bIns="80000"/>
          <a:lstStyle/>
          <a:p>
            <a:pPr marL="0"/>
            <a:r>
              <a:rPr sz="1300" b="0" lang="id-ID">
                <a:solidFill>
                  <a:srgbClr val="475569"/>
                </a:solidFill>
                <a:latin typeface="Aptos"/>
              </a:rPr>
              <a:t>OWASP testing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7406640" y="4800600"/>
            <a:ext cx="2011680" cy="566928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txBody>
          <a:bodyPr wrap="square" lIns="90000" tIns="90000" rIns="90000" bIns="90000"/>
          <a:lstStyle/>
          <a:p>
            <a:pPr marL="0"/>
            <a:r>
              <a:rPr sz="3000" b="1" lang="id-ID">
                <a:solidFill>
                  <a:srgbClr val="FFFFFF"/>
                </a:solidFill>
                <a:latin typeface="Aptos"/>
              </a:rPr>
              <a:t>100%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7406640" y="5404104"/>
            <a:ext cx="2011680" cy="4389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txBody>
          <a:bodyPr wrap="square" lIns="80000" tIns="80000" rIns="80000" bIns="80000"/>
          <a:lstStyle/>
          <a:p>
            <a:pPr marL="0"/>
            <a:r>
              <a:rPr sz="1300" b="0" lang="id-ID">
                <a:solidFill>
                  <a:srgbClr val="475569"/>
                </a:solidFill>
                <a:latin typeface="Aptos"/>
              </a:rPr>
              <a:t>Keberhasilan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585216" y="24688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1000" b="1" lang="id-ID">
                <a:solidFill>
                  <a:srgbClr val="0F766E"/>
                </a:solidFill>
                <a:latin typeface="Aptos"/>
              </a:rPr>
              <a:t>PRESENTASI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548640" y="512064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3000" b="1" lang="id-ID">
                <a:solidFill>
                  <a:srgbClr val="111827"/>
                </a:solidFill>
                <a:latin typeface="Aptos"/>
              </a:rPr>
              <a:t>Sistem Autentikasi Sertifikat Digital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585216" y="1005840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1400" b="0" lang="id-ID">
                <a:solidFill>
                  <a:srgbClr val="64748B"/>
                </a:solidFill>
                <a:latin typeface="Aptos"/>
              </a:rPr>
              <a:t>Seminar Hasil | Laravel, QR Code, dan SHA-256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585216" y="1389888"/>
            <a:ext cx="11018520" cy="274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2400" b="0" lang="id-ID">
                <a:solidFill>
                  <a:srgbClr val="1F2937"/>
                </a:solidFill>
                <a:latin typeface="Aptos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"/>
          <p:cNvSpPr txBox="1"/>
          <p:nvPr/>
        </p:nvSpPr>
        <p:spPr>
          <a:xfrm>
            <a:off x="685800" y="1828800"/>
            <a:ext cx="5486400" cy="3108960"/>
          </a:xfrm>
          <a:prstGeom prst="rect">
            <a:avLst/>
          </a:prstGeom>
          <a:noFill/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2100" b="0" lang="id-ID">
                <a:solidFill>
                  <a:srgbClr val="243447"/>
                </a:solidFill>
                <a:latin typeface="Aptos"/>
              </a:rPr>
              <a:t>- Sertifikat digital mudah disebarkan, tetapi perlu mekanisme pembuktian keaslian.</a:t>
            </a:r>
          </a:p>
          <a:p>
            <a:pPr marL="0"/>
            <a:r>
              <a:rPr sz="2100" b="0" lang="id-ID">
                <a:solidFill>
                  <a:srgbClr val="243447"/>
                </a:solidFill>
                <a:latin typeface="Aptos"/>
              </a:rPr>
              <a:t>- Pengecekan manual tanpa sistem berisiko lambat, tidak konsisten, dan sulit diaudit.</a:t>
            </a:r>
          </a:p>
          <a:p>
            <a:pPr marL="0"/>
            <a:r>
              <a:rPr sz="2100" b="0" lang="id-ID">
                <a:solidFill>
                  <a:srgbClr val="243447"/>
                </a:solidFill>
                <a:latin typeface="Aptos"/>
              </a:rPr>
              <a:t>- QR Code dapat mempercepat verifikasi, sedangkan hash SHA-256 membantu mendeteksi perubahan file.</a:t>
            </a:r>
          </a:p>
          <a:p>
            <a:pPr marL="0"/>
            <a:r>
              <a:rPr sz="2100" b="0" lang="id-ID">
                <a:solidFill>
                  <a:srgbClr val="243447"/>
                </a:solidFill>
                <a:latin typeface="Aptos"/>
              </a:rPr>
              <a:t>- Hak akses admin dan superadmin dibutuhkan agar pengelolaan data tetap terkontrol.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6583680" y="1874519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2200" b="1" lang="id-ID">
                <a:solidFill>
                  <a:srgbClr val="111827"/>
                </a:solidFill>
                <a:latin typeface="Aptos"/>
              </a:rPr>
              <a:t>Kebutuhan sistem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6537960" y="2423160"/>
            <a:ext cx="4343400" cy="2651760"/>
          </a:xfrm>
          <a:prstGeom prst="roundRect">
            <a:avLst/>
          </a:prstGeom>
          <a:solidFill>
            <a:srgbClr val="155E75"/>
          </a:solidFill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2200" b="0" lang="id-ID">
                <a:solidFill>
                  <a:srgbClr val="FFFFFF"/>
                </a:solidFill>
                <a:latin typeface="Aptos"/>
              </a:rPr>
              <a:t>Verifikasi publik</a:t>
            </a:r>
          </a:p>
          <a:p>
            <a:pPr marL="0"/>
            <a:r>
              <a:rPr sz="2200" b="0" lang="id-ID">
                <a:solidFill>
                  <a:srgbClr val="FFFFFF"/>
                </a:solidFill>
                <a:latin typeface="Aptos"/>
              </a:rPr>
              <a:t>Pengelolaan sertifikat</a:t>
            </a:r>
          </a:p>
          <a:p>
            <a:pPr marL="0"/>
            <a:r>
              <a:rPr sz="2200" b="0" lang="id-ID">
                <a:solidFill>
                  <a:srgbClr val="FFFFFF"/>
                </a:solidFill>
                <a:latin typeface="Aptos"/>
              </a:rPr>
              <a:t>Keamanan akses</a:t>
            </a:r>
          </a:p>
          <a:p>
            <a:pPr marL="0"/>
            <a:r>
              <a:rPr sz="2200" b="0" lang="id-ID">
                <a:solidFill>
                  <a:srgbClr val="FFFFFF"/>
                </a:solidFill>
                <a:latin typeface="Aptos"/>
              </a:rPr>
              <a:t>Riwayat aktivitas</a:t>
            </a:r>
          </a:p>
          <a:p>
            <a:pPr marL="0"/>
            <a:r>
              <a:rPr sz="2200" b="0" lang="id-ID">
                <a:solidFill>
                  <a:srgbClr val="FFFFFF"/>
                </a:solidFill>
                <a:latin typeface="Aptos"/>
              </a:rPr>
              <a:t>Validasi integritas file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585216" y="24688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1000" b="1" lang="id-ID">
                <a:solidFill>
                  <a:srgbClr val="0F766E"/>
                </a:solidFill>
                <a:latin typeface="Aptos"/>
              </a:rPr>
              <a:t>PENDAHULUAN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548640" y="512064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3000" b="1" lang="id-ID">
                <a:solidFill>
                  <a:srgbClr val="111827"/>
                </a:solidFill>
                <a:latin typeface="Aptos"/>
              </a:rPr>
              <a:t>Latar Belakang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585216" y="1005840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1400" b="0" lang="id-ID">
                <a:solidFill>
                  <a:srgbClr val="64748B"/>
                </a:solidFill>
                <a:latin typeface="Aptos"/>
              </a:rPr>
              <a:t>Permasalahan utama berada pada validasi keaslian dokumen sertifikat.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585216" y="1389888"/>
            <a:ext cx="11018520" cy="274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2400" b="0" lang="id-ID">
                <a:solidFill>
                  <a:srgbClr val="1F2937"/>
                </a:solidFill>
                <a:latin typeface="Aptos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"/>
          <p:cNvSpPr txBox="1"/>
          <p:nvPr/>
        </p:nvSpPr>
        <p:spPr>
          <a:xfrm>
            <a:off x="749808" y="1828800"/>
            <a:ext cx="48920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2400" b="1" lang="id-ID">
                <a:solidFill>
                  <a:srgbClr val="111827"/>
                </a:solidFill>
                <a:latin typeface="Aptos"/>
              </a:rPr>
              <a:t>Rumusan masalah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685800" y="2331720"/>
            <a:ext cx="5166360" cy="2423160"/>
          </a:xfrm>
          <a:prstGeom prst="rect">
            <a:avLst/>
          </a:prstGeom>
          <a:noFill/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2100" b="0" lang="id-ID">
                <a:solidFill>
                  <a:srgbClr val="243447"/>
                </a:solidFill>
                <a:latin typeface="Aptos"/>
              </a:rPr>
              <a:t>- Bagaimana membangun sistem autentikasi sertifikat digital berbasis web?</a:t>
            </a:r>
          </a:p>
          <a:p>
            <a:pPr marL="0"/>
            <a:r>
              <a:rPr sz="2100" b="0" lang="id-ID">
                <a:solidFill>
                  <a:srgbClr val="243447"/>
                </a:solidFill>
                <a:latin typeface="Aptos"/>
              </a:rPr>
              <a:t>- Bagaimana menyediakan verifikasi sertifikat melalui input manual dan QR Code?</a:t>
            </a:r>
          </a:p>
          <a:p>
            <a:pPr marL="0"/>
            <a:r>
              <a:rPr sz="2100" b="0" lang="id-ID">
                <a:solidFill>
                  <a:srgbClr val="243447"/>
                </a:solidFill>
                <a:latin typeface="Aptos"/>
              </a:rPr>
              <a:t>- Bagaimana menerapkan kontrol akses serta pengujian keamanan pada sistem?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6355080" y="1828800"/>
            <a:ext cx="48920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2400" b="1" lang="id-ID">
                <a:solidFill>
                  <a:srgbClr val="111827"/>
                </a:solidFill>
                <a:latin typeface="Aptos"/>
              </a:rPr>
              <a:t>Tujuan penelitian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6291072" y="2331720"/>
            <a:ext cx="5166360" cy="2423160"/>
          </a:xfrm>
          <a:prstGeom prst="rect">
            <a:avLst/>
          </a:prstGeom>
          <a:noFill/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2100" b="0" lang="id-ID">
                <a:solidFill>
                  <a:srgbClr val="243447"/>
                </a:solidFill>
                <a:latin typeface="Aptos"/>
              </a:rPr>
              <a:t>- Menghasilkan aplikasi pengelolaan sertifikat digital.</a:t>
            </a:r>
          </a:p>
          <a:p>
            <a:pPr marL="0"/>
            <a:r>
              <a:rPr sz="2100" b="0" lang="id-ID">
                <a:solidFill>
                  <a:srgbClr val="243447"/>
                </a:solidFill>
                <a:latin typeface="Aptos"/>
              </a:rPr>
              <a:t>- Menyediakan fitur verifikasi yang cepat dan mudah digunakan.</a:t>
            </a:r>
          </a:p>
          <a:p>
            <a:pPr marL="0"/>
            <a:r>
              <a:rPr sz="2100" b="0" lang="id-ID">
                <a:solidFill>
                  <a:srgbClr val="243447"/>
                </a:solidFill>
                <a:latin typeface="Aptos"/>
              </a:rPr>
              <a:t>- Menerapkan hash SHA-256, autentikasi, otorisasi, CSRF protection, dan rate limiting.</a:t>
            </a:r>
          </a:p>
          <a:p>
            <a:pPr marL="0"/>
            <a:r>
              <a:rPr sz="2100" b="0" lang="id-ID">
                <a:solidFill>
                  <a:srgbClr val="243447"/>
                </a:solidFill>
                <a:latin typeface="Aptos"/>
              </a:rPr>
              <a:t>- Menguji fungsi dan keamanan sistem secara terukur.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585216" y="24688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1000" b="1" lang="id-ID">
                <a:solidFill>
                  <a:srgbClr val="0F766E"/>
                </a:solidFill>
                <a:latin typeface="Aptos"/>
              </a:rPr>
              <a:t>PENDAHULUAN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548640" y="512064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3000" b="1" lang="id-ID">
                <a:solidFill>
                  <a:srgbClr val="111827"/>
                </a:solidFill>
                <a:latin typeface="Aptos"/>
              </a:rPr>
              <a:t>Rumusan Masalah dan Tujuan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585216" y="1005840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1400" b="0" lang="id-ID">
                <a:solidFill>
                  <a:srgbClr val="64748B"/>
                </a:solidFill>
                <a:latin typeface="Aptos"/>
              </a:rPr>
              <a:t>Slide ini bisa dipakai untuk menjelaskan arah penelitian secara cepat.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585216" y="1389888"/>
            <a:ext cx="11018520" cy="274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2400" b="0" lang="id-ID">
                <a:solidFill>
                  <a:srgbClr val="1F2937"/>
                </a:solidFill>
                <a:latin typeface="Aptos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"/>
          <p:cNvSpPr txBox="1"/>
          <p:nvPr/>
        </p:nvSpPr>
        <p:spPr>
          <a:xfrm>
            <a:off x="777240" y="18288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2300" b="1" lang="id-ID">
                <a:solidFill>
                  <a:srgbClr val="111827"/>
                </a:solidFill>
                <a:latin typeface="Aptos"/>
              </a:rPr>
              <a:t>Pengembangan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713232" y="2359152"/>
            <a:ext cx="3246120" cy="2606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1900" b="0" lang="id-ID">
                <a:solidFill>
                  <a:srgbClr val="334155"/>
                </a:solidFill>
                <a:latin typeface="Aptos"/>
              </a:rPr>
              <a:t>Analisis kebutuhan</a:t>
            </a:r>
          </a:p>
          <a:p>
            <a:pPr marL="0"/>
            <a:r>
              <a:rPr sz="1900" b="0" lang="id-ID">
                <a:solidFill>
                  <a:srgbClr val="334155"/>
                </a:solidFill>
                <a:latin typeface="Aptos"/>
              </a:rPr>
              <a:t>Perancangan database dan alur fitur</a:t>
            </a:r>
          </a:p>
          <a:p>
            <a:pPr marL="0"/>
            <a:r>
              <a:rPr sz="1900" b="0" lang="id-ID">
                <a:solidFill>
                  <a:srgbClr val="334155"/>
                </a:solidFill>
                <a:latin typeface="Aptos"/>
              </a:rPr>
              <a:t>Implementasi Laravel</a:t>
            </a:r>
          </a:p>
          <a:p>
            <a:pPr marL="0"/>
            <a:r>
              <a:rPr sz="1900" b="0" lang="id-ID">
                <a:solidFill>
                  <a:srgbClr val="334155"/>
                </a:solidFill>
                <a:latin typeface="Aptos"/>
              </a:rPr>
              <a:t>Integrasi QR Code dan hash</a:t>
            </a:r>
          </a:p>
          <a:p>
            <a:pPr marL="0"/>
            <a:r>
              <a:rPr sz="1900" b="0" lang="id-ID">
                <a:solidFill>
                  <a:srgbClr val="334155"/>
                </a:solidFill>
                <a:latin typeface="Aptos"/>
              </a:rPr>
              <a:t>Pengujian dan evaluasi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4434840" y="18288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2300" b="1" lang="id-ID">
                <a:solidFill>
                  <a:srgbClr val="111827"/>
                </a:solidFill>
                <a:latin typeface="Aptos"/>
              </a:rPr>
              <a:t>Pengujian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4370832" y="2359152"/>
            <a:ext cx="3246120" cy="2606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1900" b="0" lang="id-ID">
                <a:solidFill>
                  <a:srgbClr val="334155"/>
                </a:solidFill>
                <a:latin typeface="Aptos"/>
              </a:rPr>
              <a:t>Black box testing</a:t>
            </a:r>
          </a:p>
          <a:p>
            <a:pPr marL="0"/>
            <a:r>
              <a:rPr sz="1900" b="0" lang="id-ID">
                <a:solidFill>
                  <a:srgbClr val="334155"/>
                </a:solidFill>
                <a:latin typeface="Aptos"/>
              </a:rPr>
              <a:t>Security testing</a:t>
            </a:r>
          </a:p>
          <a:p>
            <a:pPr marL="0"/>
            <a:r>
              <a:rPr sz="1900" b="0" lang="id-ID">
                <a:solidFill>
                  <a:srgbClr val="334155"/>
                </a:solidFill>
                <a:latin typeface="Aptos"/>
              </a:rPr>
              <a:t>OWASP Top 10 2021</a:t>
            </a:r>
          </a:p>
          <a:p>
            <a:pPr marL="0"/>
            <a:r>
              <a:rPr sz="1900" b="0" lang="id-ID">
                <a:solidFill>
                  <a:srgbClr val="334155"/>
                </a:solidFill>
                <a:latin typeface="Aptos"/>
              </a:rPr>
              <a:t>Session manipulation testing</a:t>
            </a:r>
          </a:p>
          <a:p>
            <a:pPr marL="0"/>
            <a:r>
              <a:rPr sz="1900" b="0" lang="id-ID">
                <a:solidFill>
                  <a:srgbClr val="334155"/>
                </a:solidFill>
                <a:latin typeface="Aptos"/>
              </a:rPr>
              <a:t>Kuesioner pengguna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8092440" y="18288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2300" b="1" lang="id-ID">
                <a:solidFill>
                  <a:srgbClr val="111827"/>
                </a:solidFill>
                <a:latin typeface="Aptos"/>
              </a:rPr>
              <a:t>Output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8028431" y="2359152"/>
            <a:ext cx="3246120" cy="2606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1900" b="0" lang="id-ID">
                <a:solidFill>
                  <a:srgbClr val="334155"/>
                </a:solidFill>
                <a:latin typeface="Aptos"/>
              </a:rPr>
              <a:t>Aplikasi berjalan</a:t>
            </a:r>
          </a:p>
          <a:p>
            <a:pPr marL="0"/>
            <a:r>
              <a:rPr sz="1900" b="0" lang="id-ID">
                <a:solidFill>
                  <a:srgbClr val="334155"/>
                </a:solidFill>
                <a:latin typeface="Aptos"/>
              </a:rPr>
              <a:t>Data sertifikat terkelola</a:t>
            </a:r>
          </a:p>
          <a:p>
            <a:pPr marL="0"/>
            <a:r>
              <a:rPr sz="1900" b="0" lang="id-ID">
                <a:solidFill>
                  <a:srgbClr val="334155"/>
                </a:solidFill>
                <a:latin typeface="Aptos"/>
              </a:rPr>
              <a:t>Verifikasi manual dan QR aktif</a:t>
            </a:r>
          </a:p>
          <a:p>
            <a:pPr marL="0"/>
            <a:r>
              <a:rPr sz="1900" b="0" lang="id-ID">
                <a:solidFill>
                  <a:srgbClr val="334155"/>
                </a:solidFill>
                <a:latin typeface="Aptos"/>
              </a:rPr>
              <a:t>Hak akses sesuai role</a:t>
            </a:r>
          </a:p>
          <a:p>
            <a:pPr marL="0"/>
            <a:r>
              <a:rPr sz="1900" b="0" lang="id-ID">
                <a:solidFill>
                  <a:srgbClr val="334155"/>
                </a:solidFill>
                <a:latin typeface="Aptos"/>
              </a:rPr>
              <a:t>Hasil pengujian terdokumentasi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585216" y="24688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1000" b="1" lang="id-ID">
                <a:solidFill>
                  <a:srgbClr val="0F766E"/>
                </a:solidFill>
                <a:latin typeface="Aptos"/>
              </a:rPr>
              <a:t>METODOLOGI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548640" y="512064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3000" b="1" lang="id-ID">
                <a:solidFill>
                  <a:srgbClr val="111827"/>
                </a:solidFill>
                <a:latin typeface="Aptos"/>
              </a:rPr>
              <a:t>Metode Pengembangan dan Pengujian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585216" y="1005840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1400" b="0" lang="id-ID">
                <a:solidFill>
                  <a:srgbClr val="64748B"/>
                </a:solidFill>
                <a:latin typeface="Aptos"/>
              </a:rPr>
              <a:t>Pengujian difokuskan pada fungsi utama, keamanan, dan penerimaan pengguna.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585216" y="1389888"/>
            <a:ext cx="11018520" cy="274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2400" b="0" lang="id-ID">
                <a:solidFill>
                  <a:srgbClr val="1F2937"/>
                </a:solidFill>
                <a:latin typeface="Aptos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"/>
          <p:cNvSpPr txBox="1"/>
          <p:nvPr/>
        </p:nvSpPr>
        <p:spPr>
          <a:xfrm>
            <a:off x="822960" y="1965960"/>
            <a:ext cx="2468880" cy="8686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2100" b="1" lang="id-ID">
                <a:solidFill>
                  <a:srgbClr val="FFFFFF"/>
                </a:solidFill>
                <a:latin typeface="Aptos"/>
              </a:rPr>
              <a:t>Viewer / Publik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22960" y="2944368"/>
            <a:ext cx="2468880" cy="1143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1500" b="0" lang="id-ID">
                <a:solidFill>
                  <a:srgbClr val="334155"/>
                </a:solidFill>
                <a:latin typeface="Aptos"/>
              </a:rPr>
              <a:t>Verifikasi nomor sertifikat</a:t>
            </a:r>
          </a:p>
          <a:p>
            <a:pPr marL="0"/>
            <a:r>
              <a:rPr sz="1500" b="0" lang="id-ID">
                <a:solidFill>
                  <a:srgbClr val="334155"/>
                </a:solidFill>
                <a:latin typeface="Aptos"/>
              </a:rPr>
              <a:t>Upload gambar QR Code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3794760" y="1965960"/>
            <a:ext cx="2880360" cy="86868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2100" b="1" lang="id-ID">
                <a:solidFill>
                  <a:srgbClr val="FFFFFF"/>
                </a:solidFill>
                <a:latin typeface="Aptos"/>
              </a:rPr>
              <a:t>Aplikasi Laravel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3794760" y="2944368"/>
            <a:ext cx="2880360" cy="114300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1500" b="0" lang="id-ID">
                <a:solidFill>
                  <a:srgbClr val="334155"/>
                </a:solidFill>
                <a:latin typeface="Aptos"/>
              </a:rPr>
              <a:t>Controller</a:t>
            </a:r>
          </a:p>
          <a:p>
            <a:pPr marL="0"/>
            <a:r>
              <a:rPr sz="1500" b="0" lang="id-ID">
                <a:solidFill>
                  <a:srgbClr val="334155"/>
                </a:solidFill>
                <a:latin typeface="Aptos"/>
              </a:rPr>
              <a:t>Middleware role</a:t>
            </a:r>
          </a:p>
          <a:p>
            <a:pPr marL="0"/>
            <a:r>
              <a:rPr sz="1500" b="0" lang="id-ID">
                <a:solidFill>
                  <a:srgbClr val="334155"/>
                </a:solidFill>
                <a:latin typeface="Aptos"/>
              </a:rPr>
              <a:t>Validasi request</a:t>
            </a:r>
          </a:p>
          <a:p>
            <a:pPr marL="0"/>
            <a:r>
              <a:rPr sz="1500" b="0" lang="id-ID">
                <a:solidFill>
                  <a:srgbClr val="334155"/>
                </a:solidFill>
                <a:latin typeface="Aptos"/>
              </a:rPr>
              <a:t>Activity log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7178040" y="1965960"/>
            <a:ext cx="2743200" cy="8686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2100" b="1" lang="id-ID">
                <a:solidFill>
                  <a:srgbClr val="FFFFFF"/>
                </a:solidFill>
                <a:latin typeface="Aptos"/>
              </a:rPr>
              <a:t>Database + Storage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7178040" y="2944368"/>
            <a:ext cx="2743200" cy="114300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1500" b="0" lang="id-ID">
                <a:solidFill>
                  <a:srgbClr val="334155"/>
                </a:solidFill>
                <a:latin typeface="Aptos"/>
              </a:rPr>
              <a:t>Users</a:t>
            </a:r>
          </a:p>
          <a:p>
            <a:pPr marL="0"/>
            <a:r>
              <a:rPr sz="1500" b="0" lang="id-ID">
                <a:solidFill>
                  <a:srgbClr val="334155"/>
                </a:solidFill>
                <a:latin typeface="Aptos"/>
              </a:rPr>
              <a:t>Students</a:t>
            </a:r>
          </a:p>
          <a:p>
            <a:pPr marL="0"/>
            <a:r>
              <a:rPr sz="1500" b="0" lang="id-ID">
                <a:solidFill>
                  <a:srgbClr val="334155"/>
                </a:solidFill>
                <a:latin typeface="Aptos"/>
              </a:rPr>
              <a:t>Certificates</a:t>
            </a:r>
          </a:p>
          <a:p>
            <a:pPr marL="0"/>
            <a:r>
              <a:rPr sz="1500" b="0" lang="id-ID">
                <a:solidFill>
                  <a:srgbClr val="334155"/>
                </a:solidFill>
                <a:latin typeface="Aptos"/>
              </a:rPr>
              <a:t>File sertifikat dan QR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3794760" y="4736592"/>
            <a:ext cx="2880360" cy="59436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1900" b="1" lang="id-ID">
                <a:solidFill>
                  <a:srgbClr val="FFFFFF"/>
                </a:solidFill>
                <a:latin typeface="Aptos"/>
              </a:rPr>
              <a:t>Admin / Superadmin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6903720" y="4773168"/>
            <a:ext cx="33375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1500" b="0" lang="id-ID">
                <a:solidFill>
                  <a:srgbClr val="475569"/>
                </a:solidFill>
                <a:latin typeface="Aptos"/>
              </a:rPr>
              <a:t>Upload, edit, daftar sertifikat, manajemen user, log aktivitas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585216" y="24688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1000" b="1" lang="id-ID">
                <a:solidFill>
                  <a:srgbClr val="0F766E"/>
                </a:solidFill>
                <a:latin typeface="Aptos"/>
              </a:rPr>
              <a:t>IMPLEMENTASI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548640" y="512064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3000" b="1" lang="id-ID">
                <a:solidFill>
                  <a:srgbClr val="111827"/>
                </a:solidFill>
                <a:latin typeface="Aptos"/>
              </a:rPr>
              <a:t>Arsitektur Sistem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585216" y="1005840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1400" b="0" lang="id-ID">
                <a:solidFill>
                  <a:srgbClr val="64748B"/>
                </a:solidFill>
                <a:latin typeface="Aptos"/>
              </a:rPr>
              <a:t>Sistem dibangun sebagai aplikasi web Laravel dengan modul publik dan modul admin.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585216" y="1389888"/>
            <a:ext cx="11018520" cy="274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2400" b="0" lang="id-ID">
                <a:solidFill>
                  <a:srgbClr val="1F2937"/>
                </a:solidFill>
                <a:latin typeface="Aptos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"/>
          <p:cNvSpPr txBox="1"/>
          <p:nvPr/>
        </p:nvSpPr>
        <p:spPr>
          <a:xfrm>
            <a:off x="713232" y="1828800"/>
            <a:ext cx="329184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2300" b="1" lang="id-ID">
                <a:solidFill>
                  <a:srgbClr val="FFFFFF"/>
                </a:solidFill>
                <a:latin typeface="Aptos"/>
              </a:rPr>
              <a:t>Publik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713232" y="2468880"/>
            <a:ext cx="3291840" cy="25146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2100" b="0" lang="id-ID">
                <a:solidFill>
                  <a:srgbClr val="243447"/>
                </a:solidFill>
                <a:latin typeface="Aptos"/>
              </a:rPr>
              <a:t>- Verifikasi manual</a:t>
            </a:r>
          </a:p>
          <a:p>
            <a:pPr marL="0"/>
            <a:r>
              <a:rPr sz="2100" b="0" lang="id-ID">
                <a:solidFill>
                  <a:srgbClr val="243447"/>
                </a:solidFill>
                <a:latin typeface="Aptos"/>
              </a:rPr>
              <a:t>- Verifikasi QR upload</a:t>
            </a:r>
          </a:p>
          <a:p>
            <a:pPr marL="0"/>
            <a:r>
              <a:rPr sz="2100" b="0" lang="id-ID">
                <a:solidFill>
                  <a:srgbClr val="243447"/>
                </a:solidFill>
                <a:latin typeface="Aptos"/>
              </a:rPr>
              <a:t>- Informasi hasil verifikasi</a:t>
            </a:r>
          </a:p>
          <a:p>
            <a:pPr marL="0"/>
            <a:r>
              <a:rPr sz="2100" b="0" lang="id-ID">
                <a:solidFill>
                  <a:srgbClr val="243447"/>
                </a:solidFill>
                <a:latin typeface="Aptos"/>
              </a:rPr>
              <a:t>- Pengecekan integritas file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4434840" y="1828800"/>
            <a:ext cx="3291840" cy="5029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2300" b="1" lang="id-ID">
                <a:solidFill>
                  <a:srgbClr val="FFFFFF"/>
                </a:solidFill>
                <a:latin typeface="Aptos"/>
              </a:rPr>
              <a:t>Admin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4434840" y="2468880"/>
            <a:ext cx="3291840" cy="25146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2100" b="0" lang="id-ID">
                <a:solidFill>
                  <a:srgbClr val="243447"/>
                </a:solidFill>
                <a:latin typeface="Aptos"/>
              </a:rPr>
              <a:t>- Dashboard</a:t>
            </a:r>
          </a:p>
          <a:p>
            <a:pPr marL="0"/>
            <a:r>
              <a:rPr sz="2100" b="0" lang="id-ID">
                <a:solidFill>
                  <a:srgbClr val="243447"/>
                </a:solidFill>
                <a:latin typeface="Aptos"/>
              </a:rPr>
              <a:t>- Upload sertifikat</a:t>
            </a:r>
          </a:p>
          <a:p>
            <a:pPr marL="0"/>
            <a:r>
              <a:rPr sz="2100" b="0" lang="id-ID">
                <a:solidFill>
                  <a:srgbClr val="243447"/>
                </a:solidFill>
                <a:latin typeface="Aptos"/>
              </a:rPr>
              <a:t>- Daftar, cari, dan filter data</a:t>
            </a:r>
          </a:p>
          <a:p>
            <a:pPr marL="0"/>
            <a:r>
              <a:rPr sz="2100" b="0" lang="id-ID">
                <a:solidFill>
                  <a:srgbClr val="243447"/>
                </a:solidFill>
                <a:latin typeface="Aptos"/>
              </a:rPr>
              <a:t>- Edit sertifikat</a:t>
            </a:r>
          </a:p>
          <a:p>
            <a:pPr marL="0"/>
            <a:r>
              <a:rPr sz="2100" b="0" lang="id-ID">
                <a:solidFill>
                  <a:srgbClr val="243447"/>
                </a:solidFill>
                <a:latin typeface="Aptos"/>
              </a:rPr>
              <a:t>- Verifikasi dari panel admin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8156448" y="1828800"/>
            <a:ext cx="3291840" cy="5029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2300" b="1" lang="id-ID">
                <a:solidFill>
                  <a:srgbClr val="FFFFFF"/>
                </a:solidFill>
                <a:latin typeface="Aptos"/>
              </a:rPr>
              <a:t>Superadmin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8156448" y="2468880"/>
            <a:ext cx="3291840" cy="25146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2100" b="0" lang="id-ID">
                <a:solidFill>
                  <a:srgbClr val="243447"/>
                </a:solidFill>
                <a:latin typeface="Aptos"/>
              </a:rPr>
              <a:t>- Manajemen user</a:t>
            </a:r>
          </a:p>
          <a:p>
            <a:pPr marL="0"/>
            <a:r>
              <a:rPr sz="2100" b="0" lang="id-ID">
                <a:solidFill>
                  <a:srgbClr val="243447"/>
                </a:solidFill>
                <a:latin typeface="Aptos"/>
              </a:rPr>
              <a:t>- Hapus sertifikat</a:t>
            </a:r>
          </a:p>
          <a:p>
            <a:pPr marL="0"/>
            <a:r>
              <a:rPr sz="2100" b="0" lang="id-ID">
                <a:solidFill>
                  <a:srgbClr val="243447"/>
                </a:solidFill>
                <a:latin typeface="Aptos"/>
              </a:rPr>
              <a:t>- Log aktivitas</a:t>
            </a:r>
          </a:p>
          <a:p>
            <a:pPr marL="0"/>
            <a:r>
              <a:rPr sz="2100" b="0" lang="id-ID">
                <a:solidFill>
                  <a:srgbClr val="243447"/>
                </a:solidFill>
                <a:latin typeface="Aptos"/>
              </a:rPr>
              <a:t>- Kontrol penuh role dan akses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585216" y="24688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1000" b="1" lang="id-ID">
                <a:solidFill>
                  <a:srgbClr val="0F766E"/>
                </a:solidFill>
                <a:latin typeface="Aptos"/>
              </a:rPr>
              <a:t>IMPLEMENTASI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548640" y="512064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3000" b="1" lang="id-ID">
                <a:solidFill>
                  <a:srgbClr val="111827"/>
                </a:solidFill>
                <a:latin typeface="Aptos"/>
              </a:rPr>
              <a:t>Fitur Utama Sistem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585216" y="1005840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1400" b="0" lang="id-ID">
                <a:solidFill>
                  <a:srgbClr val="64748B"/>
                </a:solidFill>
                <a:latin typeface="Aptos"/>
              </a:rPr>
              <a:t>Fitur dibagi menjadi akses publik, admin, dan superadmin.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585216" y="1389888"/>
            <a:ext cx="11018520" cy="274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2400" b="0" lang="id-ID">
                <a:solidFill>
                  <a:srgbClr val="1F2937"/>
                </a:solidFill>
                <a:latin typeface="Aptos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"/>
          <p:cNvSpPr txBox="1"/>
          <p:nvPr/>
        </p:nvSpPr>
        <p:spPr>
          <a:xfrm>
            <a:off x="685800" y="2103120"/>
            <a:ext cx="512064" cy="512064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75000" tIns="75000" rIns="75000" bIns="75000"/>
          <a:lstStyle/>
          <a:p>
            <a:pPr marL="0"/>
            <a:r>
              <a:rPr sz="1800" b="1" lang="id-ID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685800" y="2788920"/>
            <a:ext cx="1874519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1700" b="0" lang="id-ID">
                <a:solidFill>
                  <a:srgbClr val="334155"/>
                </a:solidFill>
                <a:latin typeface="Aptos"/>
              </a:rPr>
              <a:t>Input nomor / unggah QR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2926080" y="2103120"/>
            <a:ext cx="512064" cy="512064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75000" tIns="75000" rIns="75000" bIns="75000"/>
          <a:lstStyle/>
          <a:p>
            <a:pPr marL="0"/>
            <a:r>
              <a:rPr sz="1800" b="1" lang="id-ID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2926080" y="2788920"/>
            <a:ext cx="1874519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1700" b="0" lang="id-ID">
                <a:solidFill>
                  <a:srgbClr val="334155"/>
                </a:solidFill>
                <a:latin typeface="Aptos"/>
              </a:rPr>
              <a:t>Sistem membaca nomor sertifikat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5166360" y="2103120"/>
            <a:ext cx="512064" cy="512064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75000" tIns="75000" rIns="75000" bIns="75000"/>
          <a:lstStyle/>
          <a:p>
            <a:pPr marL="0"/>
            <a:r>
              <a:rPr sz="1800" b="1" lang="id-ID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5166360" y="2788920"/>
            <a:ext cx="1874519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1700" b="0" lang="id-ID">
                <a:solidFill>
                  <a:srgbClr val="334155"/>
                </a:solidFill>
                <a:latin typeface="Aptos"/>
              </a:rPr>
              <a:t>Data dicari pada database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7406640" y="2103120"/>
            <a:ext cx="512064" cy="512064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75000" tIns="75000" rIns="75000" bIns="75000"/>
          <a:lstStyle/>
          <a:p>
            <a:pPr marL="0"/>
            <a:r>
              <a:rPr sz="1800" b="1" lang="id-ID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7406640" y="2788920"/>
            <a:ext cx="1874519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1700" b="0" lang="id-ID">
                <a:solidFill>
                  <a:srgbClr val="334155"/>
                </a:solidFill>
                <a:latin typeface="Aptos"/>
              </a:rPr>
              <a:t>Hash SHA-256 file dibandingkan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9646920" y="2103120"/>
            <a:ext cx="512064" cy="512064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75000" tIns="75000" rIns="75000" bIns="75000"/>
          <a:lstStyle/>
          <a:p>
            <a:pPr marL="0"/>
            <a:r>
              <a:rPr sz="1800" b="1" lang="id-ID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9646920" y="2788920"/>
            <a:ext cx="1874519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1700" b="0" lang="id-ID">
                <a:solidFill>
                  <a:srgbClr val="334155"/>
                </a:solidFill>
                <a:latin typeface="Aptos"/>
              </a:rPr>
              <a:t>Hasil valid/tidak valid ditampilkan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749808" y="4919472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1800" b="1" lang="id-ID">
                <a:solidFill>
                  <a:srgbClr val="111827"/>
                </a:solidFill>
                <a:latin typeface="Aptos"/>
              </a:rPr>
              <a:t>Keluaran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2057400" y="4800600"/>
            <a:ext cx="90068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1700" b="0" lang="id-ID">
                <a:solidFill>
                  <a:srgbClr val="475569"/>
                </a:solidFill>
                <a:latin typeface="Aptos"/>
              </a:rPr>
              <a:t>Data sertifikat valid ditampilkan kepada pengguna. Jika nomor tidak ditemukan, QR tidak terbaca, atau hash file berubah, sistem menampilkan pesan gagal.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585216" y="24688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1000" b="1" lang="id-ID">
                <a:solidFill>
                  <a:srgbClr val="0F766E"/>
                </a:solidFill>
                <a:latin typeface="Aptos"/>
              </a:rPr>
              <a:t>IMPLEMENTASI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548640" y="512064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3000" b="1" lang="id-ID">
                <a:solidFill>
                  <a:srgbClr val="111827"/>
                </a:solidFill>
                <a:latin typeface="Aptos"/>
              </a:rPr>
              <a:t>Alur Verifikasi Sertifikat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585216" y="1005840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1400" b="0" lang="id-ID">
                <a:solidFill>
                  <a:srgbClr val="64748B"/>
                </a:solidFill>
                <a:latin typeface="Aptos"/>
              </a:rPr>
              <a:t>Pengguna dapat memverifikasi melalui nomor sertifikat atau QR Code.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585216" y="1389888"/>
            <a:ext cx="11018520" cy="274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2400" b="0" lang="id-ID">
                <a:solidFill>
                  <a:srgbClr val="1F2937"/>
                </a:solidFill>
                <a:latin typeface="Aptos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"/>
          <p:cNvSpPr txBox="1"/>
          <p:nvPr/>
        </p:nvSpPr>
        <p:spPr>
          <a:xfrm>
            <a:off x="713232" y="1828800"/>
            <a:ext cx="2331720" cy="566928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90000" tIns="90000" rIns="90000" bIns="90000"/>
          <a:lstStyle/>
          <a:p>
            <a:pPr marL="0"/>
            <a:r>
              <a:rPr sz="3000" b="1" lang="id-ID">
                <a:solidFill>
                  <a:srgbClr val="FFFFFF"/>
                </a:solidFill>
                <a:latin typeface="Aptos"/>
              </a:rPr>
              <a:t>SHA-256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713232" y="2432304"/>
            <a:ext cx="2331720" cy="4389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txBody>
          <a:bodyPr wrap="square" lIns="80000" tIns="80000" rIns="80000" bIns="80000"/>
          <a:lstStyle/>
          <a:p>
            <a:pPr marL="0"/>
            <a:r>
              <a:rPr sz="1300" b="0" lang="id-ID">
                <a:solidFill>
                  <a:srgbClr val="475569"/>
                </a:solidFill>
                <a:latin typeface="Aptos"/>
              </a:rPr>
              <a:t>Hash integritas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3401568" y="1828800"/>
            <a:ext cx="2057400" cy="5669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 wrap="square" lIns="90000" tIns="90000" rIns="90000" bIns="90000"/>
          <a:lstStyle/>
          <a:p>
            <a:pPr marL="0"/>
            <a:r>
              <a:rPr sz="3000" b="1" lang="id-ID">
                <a:solidFill>
                  <a:srgbClr val="FFFFFF"/>
                </a:solidFill>
                <a:latin typeface="Aptos"/>
              </a:rPr>
              <a:t>Bcrypt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3401568" y="2432304"/>
            <a:ext cx="2057400" cy="4389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txBody>
          <a:bodyPr wrap="square" lIns="80000" tIns="80000" rIns="80000" bIns="80000"/>
          <a:lstStyle/>
          <a:p>
            <a:pPr marL="0"/>
            <a:r>
              <a:rPr sz="1300" b="0" lang="id-ID">
                <a:solidFill>
                  <a:srgbClr val="475569"/>
                </a:solidFill>
                <a:latin typeface="Aptos"/>
              </a:rPr>
              <a:t>Password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5806440" y="1828800"/>
            <a:ext cx="1965960" cy="56692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txBody>
          <a:bodyPr wrap="square" lIns="90000" tIns="90000" rIns="90000" bIns="90000"/>
          <a:lstStyle/>
          <a:p>
            <a:pPr marL="0"/>
            <a:r>
              <a:rPr sz="3000" b="1" lang="id-ID">
                <a:solidFill>
                  <a:srgbClr val="FFFFFF"/>
                </a:solidFill>
                <a:latin typeface="Aptos"/>
              </a:rPr>
              <a:t>Role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5806440" y="2432304"/>
            <a:ext cx="1965960" cy="4389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txBody>
          <a:bodyPr wrap="square" lIns="80000" tIns="80000" rIns="80000" bIns="80000"/>
          <a:lstStyle/>
          <a:p>
            <a:pPr marL="0"/>
            <a:r>
              <a:rPr sz="1300" b="0" lang="id-ID">
                <a:solidFill>
                  <a:srgbClr val="475569"/>
                </a:solidFill>
                <a:latin typeface="Aptos"/>
              </a:rPr>
              <a:t>Akses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138160" y="1828800"/>
            <a:ext cx="2240280" cy="566928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txBody>
          <a:bodyPr wrap="square" lIns="90000" tIns="90000" rIns="90000" bIns="90000"/>
          <a:lstStyle/>
          <a:p>
            <a:pPr marL="0"/>
            <a:r>
              <a:rPr sz="3000" b="1" lang="id-ID">
                <a:solidFill>
                  <a:srgbClr val="FFFFFF"/>
                </a:solidFill>
                <a:latin typeface="Aptos"/>
              </a:rPr>
              <a:t>Throttle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8138160" y="2432304"/>
            <a:ext cx="2240280" cy="4389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txBody>
          <a:bodyPr wrap="square" lIns="80000" tIns="80000" rIns="80000" bIns="80000"/>
          <a:lstStyle/>
          <a:p>
            <a:pPr marL="0"/>
            <a:r>
              <a:rPr sz="1300" b="0" lang="id-ID">
                <a:solidFill>
                  <a:srgbClr val="475569"/>
                </a:solidFill>
                <a:latin typeface="Aptos"/>
              </a:rPr>
              <a:t>Request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749808" y="3337560"/>
            <a:ext cx="9966960" cy="2148840"/>
          </a:xfrm>
          <a:prstGeom prst="rect">
            <a:avLst/>
          </a:prstGeom>
          <a:noFill/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2100" b="0" lang="id-ID">
                <a:solidFill>
                  <a:srgbClr val="243447"/>
                </a:solidFill>
                <a:latin typeface="Aptos"/>
              </a:rPr>
              <a:t>- CSRF token melindungi request perubahan data.</a:t>
            </a:r>
          </a:p>
          <a:p>
            <a:pPr marL="0"/>
            <a:r>
              <a:rPr sz="2100" b="0" lang="id-ID">
                <a:solidFill>
                  <a:srgbClr val="243447"/>
                </a:solidFill>
                <a:latin typeface="Aptos"/>
              </a:rPr>
              <a:t>- Middleware role membatasi menu dan route admin/superadmin.</a:t>
            </a:r>
          </a:p>
          <a:p>
            <a:pPr marL="0"/>
            <a:r>
              <a:rPr sz="2100" b="0" lang="id-ID">
                <a:solidFill>
                  <a:srgbClr val="243447"/>
                </a:solidFill>
                <a:latin typeface="Aptos"/>
              </a:rPr>
              <a:t>- Validasi upload membatasi jenis file dan ukuran.</a:t>
            </a:r>
          </a:p>
          <a:p>
            <a:pPr marL="0"/>
            <a:r>
              <a:rPr sz="2100" b="0" lang="id-ID">
                <a:solidFill>
                  <a:srgbClr val="243447"/>
                </a:solidFill>
                <a:latin typeface="Aptos"/>
              </a:rPr>
              <a:t>- Activity log mencatat upload, edit, hapus, dan aktivitas penting.</a:t>
            </a:r>
          </a:p>
          <a:p>
            <a:pPr marL="0"/>
            <a:r>
              <a:rPr sz="2100" b="0" lang="id-ID">
                <a:solidFill>
                  <a:srgbClr val="243447"/>
                </a:solidFill>
                <a:latin typeface="Aptos"/>
              </a:rPr>
              <a:t>- Security header dan validasi input mengurangi risiko serangan umum aplikasi web.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585216" y="24688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1000" b="1" lang="id-ID">
                <a:solidFill>
                  <a:srgbClr val="0F766E"/>
                </a:solidFill>
                <a:latin typeface="Aptos"/>
              </a:rPr>
              <a:t>IMPLEMENTASI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548640" y="512064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3000" b="1" lang="id-ID">
                <a:solidFill>
                  <a:srgbClr val="111827"/>
                </a:solidFill>
                <a:latin typeface="Aptos"/>
              </a:rPr>
              <a:t>Implementasi Keamanan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585216" y="1005840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1400" b="0" lang="id-ID">
                <a:solidFill>
                  <a:srgbClr val="64748B"/>
                </a:solidFill>
                <a:latin typeface="Aptos"/>
              </a:rPr>
              <a:t>Keamanan diterapkan pada autentikasi, otorisasi, validasi, dan integritas data.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585216" y="1389888"/>
            <a:ext cx="11018520" cy="274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2400" b="0" lang="id-ID">
                <a:solidFill>
                  <a:srgbClr val="1F2937"/>
                </a:solidFill>
                <a:latin typeface="Aptos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"/>
          <p:cNvSpPr txBox="1"/>
          <p:nvPr/>
        </p:nvSpPr>
        <p:spPr>
          <a:xfrm>
            <a:off x="749808" y="1828800"/>
            <a:ext cx="2194560" cy="5669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 wrap="square" lIns="90000" tIns="90000" rIns="90000" bIns="90000"/>
          <a:lstStyle/>
          <a:p>
            <a:pPr marL="0"/>
            <a:r>
              <a:rPr sz="3000" b="1" lang="id-ID">
                <a:solidFill>
                  <a:srgbClr val="FFFFFF"/>
                </a:solidFill>
                <a:latin typeface="Aptos"/>
              </a:rPr>
              <a:t>60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749808" y="2432304"/>
            <a:ext cx="2194560" cy="4389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txBody>
          <a:bodyPr wrap="square" lIns="80000" tIns="80000" rIns="80000" bIns="80000"/>
          <a:lstStyle/>
          <a:p>
            <a:pPr marL="0"/>
            <a:r>
              <a:rPr sz="1300" b="0" lang="id-ID">
                <a:solidFill>
                  <a:srgbClr val="475569"/>
                </a:solidFill>
                <a:latin typeface="Aptos"/>
              </a:rPr>
              <a:t>Total skenario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3246120" y="1828800"/>
            <a:ext cx="2194560" cy="566928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90000" tIns="90000" rIns="90000" bIns="90000"/>
          <a:lstStyle/>
          <a:p>
            <a:pPr marL="0"/>
            <a:r>
              <a:rPr sz="3000" b="1" lang="id-ID">
                <a:solidFill>
                  <a:srgbClr val="FFFFFF"/>
                </a:solidFill>
                <a:latin typeface="Aptos"/>
              </a:rPr>
              <a:t>60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3246120" y="2432304"/>
            <a:ext cx="2194560" cy="4389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txBody>
          <a:bodyPr wrap="square" lIns="80000" tIns="80000" rIns="80000" bIns="80000"/>
          <a:lstStyle/>
          <a:p>
            <a:pPr marL="0"/>
            <a:r>
              <a:rPr sz="1300" b="0" lang="id-ID">
                <a:solidFill>
                  <a:srgbClr val="475569"/>
                </a:solidFill>
                <a:latin typeface="Aptos"/>
              </a:rPr>
              <a:t>Berhasil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5742432" y="1828800"/>
            <a:ext cx="2194560" cy="566928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txBody>
          <a:bodyPr wrap="square" lIns="90000" tIns="90000" rIns="90000" bIns="90000"/>
          <a:lstStyle/>
          <a:p>
            <a:pPr marL="0"/>
            <a:r>
              <a:rPr sz="3000" b="1" lang="id-ID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5742432" y="2432304"/>
            <a:ext cx="2194560" cy="4389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txBody>
          <a:bodyPr wrap="square" lIns="80000" tIns="80000" rIns="80000" bIns="80000"/>
          <a:lstStyle/>
          <a:p>
            <a:pPr marL="0"/>
            <a:r>
              <a:rPr sz="1300" b="0" lang="id-ID">
                <a:solidFill>
                  <a:srgbClr val="475569"/>
                </a:solidFill>
                <a:latin typeface="Aptos"/>
              </a:rPr>
              <a:t>Gagal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238744" y="1828800"/>
            <a:ext cx="2194560" cy="56692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txBody>
          <a:bodyPr wrap="square" lIns="90000" tIns="90000" rIns="90000" bIns="90000"/>
          <a:lstStyle/>
          <a:p>
            <a:pPr marL="0"/>
            <a:r>
              <a:rPr sz="3000" b="1" lang="id-ID">
                <a:solidFill>
                  <a:srgbClr val="FFFFFF"/>
                </a:solidFill>
                <a:latin typeface="Aptos"/>
              </a:rPr>
              <a:t>100%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8238744" y="2432304"/>
            <a:ext cx="2194560" cy="4389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txBody>
          <a:bodyPr wrap="square" lIns="80000" tIns="80000" rIns="80000" bIns="80000"/>
          <a:lstStyle/>
          <a:p>
            <a:pPr marL="0"/>
            <a:r>
              <a:rPr sz="1300" b="0" lang="id-ID">
                <a:solidFill>
                  <a:srgbClr val="475569"/>
                </a:solidFill>
                <a:latin typeface="Aptos"/>
              </a:rPr>
              <a:t>Keberhasilan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777240" y="3429000"/>
            <a:ext cx="9966960" cy="1874519"/>
          </a:xfrm>
          <a:prstGeom prst="rect">
            <a:avLst/>
          </a:prstGeom>
          <a:noFill/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2100" b="0" lang="id-ID">
                <a:solidFill>
                  <a:srgbClr val="243447"/>
                </a:solidFill>
                <a:latin typeface="Aptos"/>
              </a:rPr>
              <a:t>- Modul yang diuji: verifikasi manual, verifikasi QR, login/logout, dashboard, upload, daftar, edit, hapus, log aktivitas, user, role, dan throttle.</a:t>
            </a:r>
          </a:p>
          <a:p>
            <a:pPr marL="0"/>
            <a:r>
              <a:rPr sz="2100" b="0" lang="id-ID">
                <a:solidFill>
                  <a:srgbClr val="243447"/>
                </a:solidFill>
                <a:latin typeface="Aptos"/>
              </a:rPr>
              <a:t>- Seluruh fitur utama berjalan sesuai kebutuhan fungsional.</a:t>
            </a:r>
          </a:p>
          <a:p>
            <a:pPr marL="0"/>
            <a:r>
              <a:rPr sz="2100" b="0" lang="id-ID">
                <a:solidFill>
                  <a:srgbClr val="243447"/>
                </a:solidFill>
                <a:latin typeface="Aptos"/>
              </a:rPr>
              <a:t>- Kondisi berhasil dan gagal diuji untuk memastikan respons sistem sesuai.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585216" y="24688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1000" b="1" lang="id-ID">
                <a:solidFill>
                  <a:srgbClr val="0F766E"/>
                </a:solidFill>
                <a:latin typeface="Aptos"/>
              </a:rPr>
              <a:t>HASIL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548640" y="512064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3000" b="1" lang="id-ID">
                <a:solidFill>
                  <a:srgbClr val="111827"/>
                </a:solidFill>
                <a:latin typeface="Aptos"/>
              </a:rPr>
              <a:t>Hasil Black Box Testing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585216" y="1005840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1400" b="0" lang="id-ID">
                <a:solidFill>
                  <a:srgbClr val="64748B"/>
                </a:solidFill>
                <a:latin typeface="Aptos"/>
              </a:rPr>
              <a:t>Pengujian fungsi utama dilakukan pada 60 skenario.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585216" y="1389888"/>
            <a:ext cx="11018520" cy="274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2400" b="0" lang="id-ID">
                <a:solidFill>
                  <a:srgbClr val="1F2937"/>
                </a:solidFill>
                <a:latin typeface="Aptos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"/>
          <p:cNvSpPr txBox="1"/>
          <p:nvPr/>
        </p:nvSpPr>
        <p:spPr>
          <a:xfrm>
            <a:off x="749808" y="1828800"/>
            <a:ext cx="2240280" cy="5669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 wrap="square" lIns="90000" tIns="90000" rIns="90000" bIns="90000"/>
          <a:lstStyle/>
          <a:p>
            <a:pPr marL="0"/>
            <a:r>
              <a:rPr sz="3000" b="1" lang="id-ID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749808" y="2432304"/>
            <a:ext cx="2240280" cy="4389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txBody>
          <a:bodyPr wrap="square" lIns="80000" tIns="80000" rIns="80000" bIns="80000"/>
          <a:lstStyle/>
          <a:p>
            <a:pPr marL="0"/>
            <a:r>
              <a:rPr sz="1300" b="0" lang="id-ID">
                <a:solidFill>
                  <a:srgbClr val="475569"/>
                </a:solidFill>
                <a:latin typeface="Aptos"/>
              </a:rPr>
              <a:t>Skenario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3310128" y="1828800"/>
            <a:ext cx="2240280" cy="566928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90000" tIns="90000" rIns="90000" bIns="90000"/>
          <a:lstStyle/>
          <a:p>
            <a:pPr marL="0"/>
            <a:r>
              <a:rPr sz="3000" b="1" lang="id-ID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3310128" y="2432304"/>
            <a:ext cx="2240280" cy="4389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txBody>
          <a:bodyPr wrap="square" lIns="80000" tIns="80000" rIns="80000" bIns="80000"/>
          <a:lstStyle/>
          <a:p>
            <a:pPr marL="0"/>
            <a:r>
              <a:rPr sz="1300" b="0" lang="id-ID">
                <a:solidFill>
                  <a:srgbClr val="475569"/>
                </a:solidFill>
                <a:latin typeface="Aptos"/>
              </a:rPr>
              <a:t>Berhasil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5870448" y="1828800"/>
            <a:ext cx="2240280" cy="566928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txBody>
          <a:bodyPr wrap="square" lIns="90000" tIns="90000" rIns="90000" bIns="90000"/>
          <a:lstStyle/>
          <a:p>
            <a:pPr marL="0"/>
            <a:r>
              <a:rPr sz="3000" b="1" lang="id-ID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5870448" y="2432304"/>
            <a:ext cx="2240280" cy="4389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txBody>
          <a:bodyPr wrap="square" lIns="80000" tIns="80000" rIns="80000" bIns="80000"/>
          <a:lstStyle/>
          <a:p>
            <a:pPr marL="0"/>
            <a:r>
              <a:rPr sz="1300" b="0" lang="id-ID">
                <a:solidFill>
                  <a:srgbClr val="475569"/>
                </a:solidFill>
                <a:latin typeface="Aptos"/>
              </a:rPr>
              <a:t>Gagal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430768" y="1828800"/>
            <a:ext cx="2514600" cy="56692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txBody>
          <a:bodyPr wrap="square" lIns="90000" tIns="90000" rIns="90000" bIns="90000"/>
          <a:lstStyle/>
          <a:p>
            <a:pPr marL="0"/>
            <a:r>
              <a:rPr sz="3000" b="1" lang="id-ID">
                <a:solidFill>
                  <a:srgbClr val="FFFFFF"/>
                </a:solidFill>
                <a:latin typeface="Aptos"/>
              </a:rPr>
              <a:t>Sangat Aman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8430768" y="2432304"/>
            <a:ext cx="2514600" cy="4389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txBody>
          <a:bodyPr wrap="square" lIns="80000" tIns="80000" rIns="80000" bIns="80000"/>
          <a:lstStyle/>
          <a:p>
            <a:pPr marL="0"/>
            <a:r>
              <a:rPr sz="1300" b="0" lang="id-ID">
                <a:solidFill>
                  <a:srgbClr val="475569"/>
                </a:solidFill>
                <a:latin typeface="Aptos"/>
              </a:rPr>
              <a:t>Status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777240" y="3429000"/>
            <a:ext cx="9966960" cy="1920240"/>
          </a:xfrm>
          <a:prstGeom prst="rect">
            <a:avLst/>
          </a:prstGeom>
          <a:noFill/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2000" b="0" lang="id-ID">
                <a:solidFill>
                  <a:srgbClr val="243447"/>
                </a:solidFill>
                <a:latin typeface="Aptos"/>
              </a:rPr>
              <a:t>- Autentikasi memastikan hanya pengguna valid yang dapat masuk.</a:t>
            </a:r>
          </a:p>
          <a:p>
            <a:pPr marL="0"/>
            <a:r>
              <a:rPr sz="2000" b="0" lang="id-ID">
                <a:solidFill>
                  <a:srgbClr val="243447"/>
                </a:solidFill>
                <a:latin typeface="Aptos"/>
              </a:rPr>
              <a:t>- Otorisasi mencegah user mengakses fitur di luar role.</a:t>
            </a:r>
          </a:p>
          <a:p>
            <a:pPr marL="0"/>
            <a:r>
              <a:rPr sz="2000" b="0" lang="id-ID">
                <a:solidFill>
                  <a:srgbClr val="243447"/>
                </a:solidFill>
                <a:latin typeface="Aptos"/>
              </a:rPr>
              <a:t>- Manipulasi session tidak meningkatkan hak akses.</a:t>
            </a:r>
          </a:p>
          <a:p>
            <a:pPr marL="0"/>
            <a:r>
              <a:rPr sz="2000" b="0" lang="id-ID">
                <a:solidFill>
                  <a:srgbClr val="243447"/>
                </a:solidFill>
                <a:latin typeface="Aptos"/>
              </a:rPr>
              <a:t>- CSRF protection, rate limiting, dan validasi file berjalan sesuai pengujian.</a:t>
            </a:r>
          </a:p>
          <a:p>
            <a:pPr marL="0"/>
            <a:r>
              <a:rPr sz="2000" b="0" lang="id-ID">
                <a:solidFill>
                  <a:srgbClr val="243447"/>
                </a:solidFill>
                <a:latin typeface="Aptos"/>
              </a:rPr>
              <a:t>- Integrity check mendeteksi perubahan file sertifikat melalui hash.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585216" y="24688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1000" b="1" lang="id-ID">
                <a:solidFill>
                  <a:srgbClr val="0F766E"/>
                </a:solidFill>
                <a:latin typeface="Aptos"/>
              </a:rPr>
              <a:t>HASIL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548640" y="512064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3000" b="1" lang="id-ID">
                <a:solidFill>
                  <a:srgbClr val="111827"/>
                </a:solidFill>
                <a:latin typeface="Aptos"/>
              </a:rPr>
              <a:t>Hasil Security Testing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585216" y="1005840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1400" b="0" lang="id-ID">
                <a:solidFill>
                  <a:srgbClr val="64748B"/>
                </a:solidFill>
                <a:latin typeface="Aptos"/>
              </a:rPr>
              <a:t>Pengujian keamanan dilakukan terhadap akses, session, file, dan request.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585216" y="1389888"/>
            <a:ext cx="11018520" cy="274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2400" b="0" lang="id-ID">
                <a:solidFill>
                  <a:srgbClr val="1F2937"/>
                </a:solidFill>
                <a:latin typeface="Aptos"/>
              </a:rP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"/>
          <p:cNvSpPr txBox="1"/>
          <p:nvPr/>
        </p:nvSpPr>
        <p:spPr>
          <a:xfrm>
            <a:off x="749808" y="1828800"/>
            <a:ext cx="2331720" cy="5669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 wrap="square" lIns="90000" tIns="90000" rIns="90000" bIns="90000"/>
          <a:lstStyle/>
          <a:p>
            <a:pPr marL="0"/>
            <a:r>
              <a:rPr sz="3000" b="1" lang="id-ID">
                <a:solidFill>
                  <a:srgbClr val="FFFFFF"/>
                </a:solidFill>
                <a:latin typeface="Aptos"/>
              </a:rPr>
              <a:t>23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749808" y="2432304"/>
            <a:ext cx="2331720" cy="4389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txBody>
          <a:bodyPr wrap="square" lIns="80000" tIns="80000" rIns="80000" bIns="80000"/>
          <a:lstStyle/>
          <a:p>
            <a:pPr marL="0"/>
            <a:r>
              <a:rPr sz="1300" b="0" lang="id-ID">
                <a:solidFill>
                  <a:srgbClr val="475569"/>
                </a:solidFill>
                <a:latin typeface="Aptos"/>
              </a:rPr>
              <a:t>Skenario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3401568" y="1828800"/>
            <a:ext cx="2331720" cy="566928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90000" tIns="90000" rIns="90000" bIns="90000"/>
          <a:lstStyle/>
          <a:p>
            <a:pPr marL="0"/>
            <a:r>
              <a:rPr sz="3000" b="1" lang="id-ID">
                <a:solidFill>
                  <a:srgbClr val="FFFFFF"/>
                </a:solidFill>
                <a:latin typeface="Aptos"/>
              </a:rPr>
              <a:t>23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3401568" y="2432304"/>
            <a:ext cx="2331720" cy="4389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txBody>
          <a:bodyPr wrap="square" lIns="80000" tIns="80000" rIns="80000" bIns="80000"/>
          <a:lstStyle/>
          <a:p>
            <a:pPr marL="0"/>
            <a:r>
              <a:rPr sz="1300" b="0" lang="id-ID">
                <a:solidFill>
                  <a:srgbClr val="475569"/>
                </a:solidFill>
                <a:latin typeface="Aptos"/>
              </a:rPr>
              <a:t>Berhasil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6053328" y="1828800"/>
            <a:ext cx="2331720" cy="566928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txBody>
          <a:bodyPr wrap="square" lIns="90000" tIns="90000" rIns="90000" bIns="90000"/>
          <a:lstStyle/>
          <a:p>
            <a:pPr marL="0"/>
            <a:r>
              <a:rPr sz="3000" b="1" lang="id-ID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053328" y="2432304"/>
            <a:ext cx="2331720" cy="4389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txBody>
          <a:bodyPr wrap="square" lIns="80000" tIns="80000" rIns="80000" bIns="80000"/>
          <a:lstStyle/>
          <a:p>
            <a:pPr marL="0"/>
            <a:r>
              <a:rPr sz="1300" b="0" lang="id-ID">
                <a:solidFill>
                  <a:srgbClr val="475569"/>
                </a:solidFill>
                <a:latin typeface="Aptos"/>
              </a:rPr>
              <a:t>Gagal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705088" y="1828800"/>
            <a:ext cx="2331720" cy="56692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txBody>
          <a:bodyPr wrap="square" lIns="90000" tIns="90000" rIns="90000" bIns="90000"/>
          <a:lstStyle/>
          <a:p>
            <a:pPr marL="0"/>
            <a:r>
              <a:rPr sz="3000" b="1" lang="id-ID">
                <a:solidFill>
                  <a:srgbClr val="FFFFFF"/>
                </a:solidFill>
                <a:latin typeface="Aptos"/>
              </a:rPr>
              <a:t>100%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8705088" y="2432304"/>
            <a:ext cx="2331720" cy="4389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txBody>
          <a:bodyPr wrap="square" lIns="80000" tIns="80000" rIns="80000" bIns="80000"/>
          <a:lstStyle/>
          <a:p>
            <a:pPr marL="0"/>
            <a:r>
              <a:rPr sz="1300" b="0" lang="id-ID">
                <a:solidFill>
                  <a:srgbClr val="475569"/>
                </a:solidFill>
                <a:latin typeface="Aptos"/>
              </a:rPr>
              <a:t>Keberhasilan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777240" y="3337560"/>
            <a:ext cx="32918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2100" b="1" lang="id-ID">
                <a:solidFill>
                  <a:srgbClr val="111827"/>
                </a:solidFill>
                <a:latin typeface="Aptos"/>
              </a:rPr>
              <a:t>Kategori yang diuji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749808" y="3794760"/>
            <a:ext cx="9875520" cy="1691640"/>
          </a:xfrm>
          <a:prstGeom prst="rect">
            <a:avLst/>
          </a:prstGeom>
          <a:noFill/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1700" b="0" lang="id-ID">
                <a:solidFill>
                  <a:srgbClr val="243447"/>
                </a:solidFill>
                <a:latin typeface="Aptos"/>
              </a:rPr>
              <a:t>- Broken Access Control</a:t>
            </a:r>
          </a:p>
          <a:p>
            <a:pPr marL="0"/>
            <a:r>
              <a:rPr sz="1700" b="0" lang="id-ID">
                <a:solidFill>
                  <a:srgbClr val="243447"/>
                </a:solidFill>
                <a:latin typeface="Aptos"/>
              </a:rPr>
              <a:t>- Cryptographic Failures</a:t>
            </a:r>
          </a:p>
          <a:p>
            <a:pPr marL="0"/>
            <a:r>
              <a:rPr sz="1700" b="0" lang="id-ID">
                <a:solidFill>
                  <a:srgbClr val="243447"/>
                </a:solidFill>
                <a:latin typeface="Aptos"/>
              </a:rPr>
              <a:t>- Injection</a:t>
            </a:r>
          </a:p>
          <a:p>
            <a:pPr marL="0"/>
            <a:r>
              <a:rPr sz="1700" b="0" lang="id-ID">
                <a:solidFill>
                  <a:srgbClr val="243447"/>
                </a:solidFill>
                <a:latin typeface="Aptos"/>
              </a:rPr>
              <a:t>- Security Misconfiguration</a:t>
            </a:r>
          </a:p>
          <a:p>
            <a:pPr marL="0"/>
            <a:r>
              <a:rPr sz="1700" b="0" lang="id-ID">
                <a:solidFill>
                  <a:srgbClr val="243447"/>
                </a:solidFill>
                <a:latin typeface="Aptos"/>
              </a:rPr>
              <a:t>- Identification and Authentication Failures</a:t>
            </a:r>
          </a:p>
          <a:p>
            <a:pPr marL="0"/>
            <a:r>
              <a:rPr sz="1700" b="0" lang="id-ID">
                <a:solidFill>
                  <a:srgbClr val="243447"/>
                </a:solidFill>
                <a:latin typeface="Aptos"/>
              </a:rPr>
              <a:t>- Software and Data Integrity Failures</a:t>
            </a:r>
          </a:p>
          <a:p>
            <a:pPr marL="0"/>
            <a:r>
              <a:rPr sz="1700" b="0" lang="id-ID">
                <a:solidFill>
                  <a:srgbClr val="243447"/>
                </a:solidFill>
                <a:latin typeface="Aptos"/>
              </a:rPr>
              <a:t>- Logging and Monitoring Failures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585216" y="24688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1000" b="1" lang="id-ID">
                <a:solidFill>
                  <a:srgbClr val="0F766E"/>
                </a:solidFill>
                <a:latin typeface="Aptos"/>
              </a:rPr>
              <a:t>HASIL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548640" y="512064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3000" b="1" lang="id-ID">
                <a:solidFill>
                  <a:srgbClr val="111827"/>
                </a:solidFill>
                <a:latin typeface="Aptos"/>
              </a:rPr>
              <a:t>Hasil OWASP Security Testing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585216" y="1005840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1400" b="0" lang="id-ID">
                <a:solidFill>
                  <a:srgbClr val="64748B"/>
                </a:solidFill>
                <a:latin typeface="Aptos"/>
              </a:rPr>
              <a:t>Pengujian disesuaikan dengan kategori OWASP Top 10 2021 yang relevan.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585216" y="1389888"/>
            <a:ext cx="11018520" cy="274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2400" b="0" lang="id-ID">
                <a:solidFill>
                  <a:srgbClr val="1F2937"/>
                </a:solidFill>
                <a:latin typeface="Aptos"/>
              </a:rP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"/>
          <p:cNvSpPr txBox="1"/>
          <p:nvPr/>
        </p:nvSpPr>
        <p:spPr>
          <a:xfrm>
            <a:off x="777240" y="182880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2200" b="1" lang="id-ID">
                <a:solidFill>
                  <a:srgbClr val="111827"/>
                </a:solidFill>
                <a:latin typeface="Aptos"/>
              </a:rPr>
              <a:t>Aspek penilaian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749808" y="2331720"/>
            <a:ext cx="4023360" cy="25146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2000" b="0" lang="id-ID">
                <a:solidFill>
                  <a:srgbClr val="243447"/>
                </a:solidFill>
                <a:latin typeface="Aptos"/>
              </a:rPr>
              <a:t>- Kemudahan penggunaan</a:t>
            </a:r>
          </a:p>
          <a:p>
            <a:pPr marL="0"/>
            <a:r>
              <a:rPr sz="2000" b="0" lang="id-ID">
                <a:solidFill>
                  <a:srgbClr val="243447"/>
                </a:solidFill>
                <a:latin typeface="Aptos"/>
              </a:rPr>
              <a:t>- Tampilan antarmuka</a:t>
            </a:r>
          </a:p>
          <a:p>
            <a:pPr marL="0"/>
            <a:r>
              <a:rPr sz="2000" b="0" lang="id-ID">
                <a:solidFill>
                  <a:srgbClr val="243447"/>
                </a:solidFill>
                <a:latin typeface="Aptos"/>
              </a:rPr>
              <a:t>- Kejelasan informasi</a:t>
            </a:r>
          </a:p>
          <a:p>
            <a:pPr marL="0"/>
            <a:r>
              <a:rPr sz="2000" b="0" lang="id-ID">
                <a:solidFill>
                  <a:srgbClr val="243447"/>
                </a:solidFill>
                <a:latin typeface="Aptos"/>
              </a:rPr>
              <a:t>- Kecepatan proses</a:t>
            </a:r>
          </a:p>
          <a:p>
            <a:pPr marL="0"/>
            <a:r>
              <a:rPr sz="2000" b="0" lang="id-ID">
                <a:solidFill>
                  <a:srgbClr val="243447"/>
                </a:solidFill>
                <a:latin typeface="Aptos"/>
              </a:rPr>
              <a:t>- Keamanan sistem</a:t>
            </a:r>
          </a:p>
          <a:p>
            <a:pPr marL="0"/>
            <a:r>
              <a:rPr sz="2000" b="0" lang="id-ID">
                <a:solidFill>
                  <a:srgbClr val="243447"/>
                </a:solidFill>
                <a:latin typeface="Aptos"/>
              </a:rPr>
              <a:t>- Manfaat sistem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5577840" y="1828800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2200" b="1" lang="id-ID">
                <a:solidFill>
                  <a:srgbClr val="111827"/>
                </a:solidFill>
                <a:latin typeface="Aptos"/>
              </a:rPr>
              <a:t>Isi data hasil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5532120" y="2331720"/>
            <a:ext cx="493776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2100" b="0" lang="id-ID">
                <a:solidFill>
                  <a:srgbClr val="334155"/>
                </a:solidFill>
                <a:latin typeface="Aptos"/>
              </a:rPr>
              <a:t>Jumlah responden: [isi]</a:t>
            </a:r>
          </a:p>
          <a:p>
            <a:pPr marL="0"/>
            <a:r>
              <a:rPr sz="2100" b="0" lang="id-ID">
                <a:solidFill>
                  <a:srgbClr val="334155"/>
                </a:solidFill>
                <a:latin typeface="Aptos"/>
              </a:rPr>
              <a:t>Rata-rata skor: [isi]</a:t>
            </a:r>
          </a:p>
          <a:p>
            <a:pPr marL="0"/>
            <a:r>
              <a:rPr sz="2100" b="0" lang="id-ID">
                <a:solidFill>
                  <a:srgbClr val="334155"/>
                </a:solidFill>
                <a:latin typeface="Aptos"/>
              </a:rPr>
              <a:t>Kategori: [isi]</a:t>
            </a:r>
          </a:p>
          <a:p>
            <a:pPr marL="0"/>
            <a:r>
              <a:rPr sz="2100" b="0" lang="id-ID">
                <a:solidFill>
                  <a:srgbClr val="334155"/>
                </a:solidFill>
                <a:latin typeface="Aptos"/>
              </a:rPr>
              <a:t>Catatan utama: [isi ringkasan komentar responden]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585216" y="24688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1000" b="1" lang="id-ID">
                <a:solidFill>
                  <a:srgbClr val="0F766E"/>
                </a:solidFill>
                <a:latin typeface="Aptos"/>
              </a:rPr>
              <a:t>HASIL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548640" y="512064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3000" b="1" lang="id-ID">
                <a:solidFill>
                  <a:srgbClr val="111827"/>
                </a:solidFill>
                <a:latin typeface="Aptos"/>
              </a:rPr>
              <a:t>Evaluasi Pengguna / Kuesioner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585216" y="1005840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1400" b="0" lang="id-ID">
                <a:solidFill>
                  <a:srgbClr val="64748B"/>
                </a:solidFill>
                <a:latin typeface="Aptos"/>
              </a:rPr>
              <a:t>Bagian ini disiapkan untuk memasukkan hasil rekap kuesioner.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585216" y="1389888"/>
            <a:ext cx="11018520" cy="274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2400" b="0" lang="id-ID">
                <a:solidFill>
                  <a:srgbClr val="1F2937"/>
                </a:solidFill>
                <a:latin typeface="Aptos"/>
              </a:rP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"/>
          <p:cNvSpPr txBox="1"/>
          <p:nvPr/>
        </p:nvSpPr>
        <p:spPr>
          <a:xfrm>
            <a:off x="749808" y="1920240"/>
            <a:ext cx="324612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2200" b="0" lang="id-ID">
                <a:solidFill>
                  <a:srgbClr val="64748B"/>
                </a:solidFill>
                <a:latin typeface="Aptos"/>
              </a:rPr>
              <a:t>Screenshot 1</a:t>
            </a:r>
          </a:p>
          <a:p>
            <a:pPr marL="0"/>
            <a:r>
              <a:rPr sz="2200" b="0" lang="id-ID">
                <a:solidFill>
                  <a:srgbClr val="64748B"/>
                </a:solidFill>
                <a:latin typeface="Aptos"/>
              </a:rPr>
              <a:t>Halaman verifikasi publik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4407408" y="1920240"/>
            <a:ext cx="324612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2200" b="0" lang="id-ID">
                <a:solidFill>
                  <a:srgbClr val="64748B"/>
                </a:solidFill>
                <a:latin typeface="Aptos"/>
              </a:rPr>
              <a:t>Screenshot 2</a:t>
            </a:r>
          </a:p>
          <a:p>
            <a:pPr marL="0"/>
            <a:r>
              <a:rPr sz="2200" b="0" lang="id-ID">
                <a:solidFill>
                  <a:srgbClr val="64748B"/>
                </a:solidFill>
                <a:latin typeface="Aptos"/>
              </a:rPr>
              <a:t>Dashboard admin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8065008" y="1920240"/>
            <a:ext cx="324612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2200" b="0" lang="id-ID">
                <a:solidFill>
                  <a:srgbClr val="64748B"/>
                </a:solidFill>
                <a:latin typeface="Aptos"/>
              </a:rPr>
              <a:t>Screenshot 3</a:t>
            </a:r>
          </a:p>
          <a:p>
            <a:pPr marL="0"/>
            <a:r>
              <a:rPr sz="2200" b="0" lang="id-ID">
                <a:solidFill>
                  <a:srgbClr val="64748B"/>
                </a:solidFill>
                <a:latin typeface="Aptos"/>
              </a:rPr>
              <a:t>Upload / daftar sertifikat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841248" y="4800600"/>
            <a:ext cx="996696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1800" b="0" lang="id-ID">
                <a:solidFill>
                  <a:srgbClr val="475569"/>
                </a:solidFill>
                <a:latin typeface="Aptos"/>
              </a:rPr>
              <a:t>Catatan demo: tampilkan alur verifikasi nomor sertifikat, upload QR, login admin, upload sertifikat, serta perbedaan akses admin dan superadmin.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585216" y="24688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1000" b="1" lang="id-ID">
                <a:solidFill>
                  <a:srgbClr val="0F766E"/>
                </a:solidFill>
                <a:latin typeface="Aptos"/>
              </a:rPr>
              <a:t>DEMO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548640" y="512064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3000" b="1" lang="id-ID">
                <a:solidFill>
                  <a:srgbClr val="111827"/>
                </a:solidFill>
                <a:latin typeface="Aptos"/>
              </a:rPr>
              <a:t>Dokumentasi Implementasi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585216" y="1005840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1400" b="0" lang="id-ID">
                <a:solidFill>
                  <a:srgbClr val="64748B"/>
                </a:solidFill>
                <a:latin typeface="Aptos"/>
              </a:rPr>
              <a:t>Gunakan slide ini untuk menaruh screenshot saat presentasi.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585216" y="1389888"/>
            <a:ext cx="11018520" cy="274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2400" b="0" lang="id-ID">
                <a:solidFill>
                  <a:srgbClr val="1F2937"/>
                </a:solidFill>
                <a:latin typeface="Aptos"/>
              </a:rPr>
              <a:t/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"/>
          <p:cNvSpPr txBox="1"/>
          <p:nvPr/>
        </p:nvSpPr>
        <p:spPr>
          <a:xfrm>
            <a:off x="777240" y="1828800"/>
            <a:ext cx="9784080" cy="29718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2200" b="0" lang="id-ID">
                <a:solidFill>
                  <a:srgbClr val="243447"/>
                </a:solidFill>
                <a:latin typeface="Aptos"/>
              </a:rPr>
              <a:t>- Sistem autentikasi sertifikat digital berhasil dibangun menggunakan Laravel.</a:t>
            </a:r>
          </a:p>
          <a:p>
            <a:pPr marL="0"/>
            <a:r>
              <a:rPr sz="2200" b="0" lang="id-ID">
                <a:solidFill>
                  <a:srgbClr val="243447"/>
                </a:solidFill>
                <a:latin typeface="Aptos"/>
              </a:rPr>
              <a:t>- Verifikasi sertifikat dapat dilakukan melalui nomor sertifikat dan QR Code.</a:t>
            </a:r>
          </a:p>
          <a:p>
            <a:pPr marL="0"/>
            <a:r>
              <a:rPr sz="2200" b="0" lang="id-ID">
                <a:solidFill>
                  <a:srgbClr val="243447"/>
                </a:solidFill>
                <a:latin typeface="Aptos"/>
              </a:rPr>
              <a:t>- Hash SHA-256 membantu memastikan integritas file sertifikat.</a:t>
            </a:r>
          </a:p>
          <a:p>
            <a:pPr marL="0"/>
            <a:r>
              <a:rPr sz="2200" b="0" lang="id-ID">
                <a:solidFill>
                  <a:srgbClr val="243447"/>
                </a:solidFill>
                <a:latin typeface="Aptos"/>
              </a:rPr>
              <a:t>- Role admin dan superadmin membatasi akses sesuai tanggung jawab pengguna.</a:t>
            </a:r>
          </a:p>
          <a:p>
            <a:pPr marL="0"/>
            <a:r>
              <a:rPr sz="2200" b="0" lang="id-ID">
                <a:solidFill>
                  <a:srgbClr val="243447"/>
                </a:solidFill>
                <a:latin typeface="Aptos"/>
              </a:rPr>
              <a:t>- Black box, security testing, dan OWASP testing menunjukkan tingkat keberhasilan 100%.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585216" y="24688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1000" b="1" lang="id-ID">
                <a:solidFill>
                  <a:srgbClr val="0F766E"/>
                </a:solidFill>
                <a:latin typeface="Aptos"/>
              </a:rPr>
              <a:t>PENUTUP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548640" y="512064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3000" b="1" lang="id-ID">
                <a:solidFill>
                  <a:srgbClr val="111827"/>
                </a:solidFill>
                <a:latin typeface="Aptos"/>
              </a:rPr>
              <a:t>Kesimpulan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585216" y="1005840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1400" b="0" lang="id-ID">
                <a:solidFill>
                  <a:srgbClr val="64748B"/>
                </a:solidFill>
                <a:latin typeface="Aptos"/>
              </a:rPr>
              <a:t>Hasil pengembangan dan pengujian menunjukkan sistem memenuhi kebutuhan utama.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585216" y="1389888"/>
            <a:ext cx="11018520" cy="274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2400" b="0" lang="id-ID">
                <a:solidFill>
                  <a:srgbClr val="1F2937"/>
                </a:solidFill>
                <a:latin typeface="Aptos"/>
              </a:rPr>
              <a:t/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"/>
          <p:cNvSpPr txBox="1"/>
          <p:nvPr/>
        </p:nvSpPr>
        <p:spPr>
          <a:xfrm>
            <a:off x="777240" y="1828800"/>
            <a:ext cx="9784080" cy="29718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2200" b="0" lang="id-ID">
                <a:solidFill>
                  <a:srgbClr val="243447"/>
                </a:solidFill>
                <a:latin typeface="Aptos"/>
              </a:rPr>
              <a:t>- Menambahkan scan QR berbasis kamera yang lebih stabil pada berbagai perangkat.</a:t>
            </a:r>
          </a:p>
          <a:p>
            <a:pPr marL="0"/>
            <a:r>
              <a:rPr sz="2200" b="0" lang="id-ID">
                <a:solidFill>
                  <a:srgbClr val="243447"/>
                </a:solidFill>
                <a:latin typeface="Aptos"/>
              </a:rPr>
              <a:t>- Mengintegrasikan tanda tangan digital berbasis sertifikat elektronik resmi.</a:t>
            </a:r>
          </a:p>
          <a:p>
            <a:pPr marL="0"/>
            <a:r>
              <a:rPr sz="2200" b="0" lang="id-ID">
                <a:solidFill>
                  <a:srgbClr val="243447"/>
                </a:solidFill>
                <a:latin typeface="Aptos"/>
              </a:rPr>
              <a:t>- Menyediakan dashboard analitik verifikasi dan aktivitas pengguna.</a:t>
            </a:r>
          </a:p>
          <a:p>
            <a:pPr marL="0"/>
            <a:r>
              <a:rPr sz="2200" b="0" lang="id-ID">
                <a:solidFill>
                  <a:srgbClr val="243447"/>
                </a:solidFill>
                <a:latin typeface="Aptos"/>
              </a:rPr>
              <a:t>- Menambahkan notifikasi masa berlaku sertifikat.</a:t>
            </a:r>
          </a:p>
          <a:p>
            <a:pPr marL="0"/>
            <a:r>
              <a:rPr sz="2200" b="0" lang="id-ID">
                <a:solidFill>
                  <a:srgbClr val="243447"/>
                </a:solidFill>
                <a:latin typeface="Aptos"/>
              </a:rPr>
              <a:t>- Melakukan deployment production dengan HTTPS, backup terjadwal, dan monitoring.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585216" y="24688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1000" b="1" lang="id-ID">
                <a:solidFill>
                  <a:srgbClr val="0F766E"/>
                </a:solidFill>
                <a:latin typeface="Aptos"/>
              </a:rPr>
              <a:t>PENUTUP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548640" y="512064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3000" b="1" lang="id-ID">
                <a:solidFill>
                  <a:srgbClr val="111827"/>
                </a:solidFill>
                <a:latin typeface="Aptos"/>
              </a:rPr>
              <a:t>Saran Pengembangan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585216" y="1005840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1400" b="0" lang="id-ID">
                <a:solidFill>
                  <a:srgbClr val="64748B"/>
                </a:solidFill>
                <a:latin typeface="Aptos"/>
              </a:rPr>
              <a:t>Beberapa peningkatan dapat dilakukan untuk penelitian atau versi sistem berikutnya.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585216" y="1389888"/>
            <a:ext cx="11018520" cy="274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2400" b="0" lang="id-ID">
                <a:solidFill>
                  <a:srgbClr val="1F2937"/>
                </a:solidFill>
                <a:latin typeface="Aptos"/>
              </a:rPr>
              <a:t/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"/>
          <p:cNvSpPr txBox="1"/>
          <p:nvPr/>
        </p:nvSpPr>
        <p:spPr>
          <a:xfrm>
            <a:off x="1920240" y="2194560"/>
            <a:ext cx="8138160" cy="77724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3800" b="1" lang="id-ID">
                <a:solidFill>
                  <a:srgbClr val="FFFFFF"/>
                </a:solidFill>
                <a:latin typeface="Aptos"/>
              </a:rPr>
              <a:t>Pertanyaan dan diskusi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3337560" y="3429000"/>
            <a:ext cx="530352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2200" b="0" lang="id-ID">
                <a:solidFill>
                  <a:srgbClr val="334155"/>
                </a:solidFill>
                <a:latin typeface="Aptos"/>
              </a:rPr>
              <a:t>Kontak: [isi email/nomor]</a:t>
            </a:r>
          </a:p>
          <a:p>
            <a:pPr marL="0"/>
            <a:r>
              <a:rPr sz="2200" b="0" lang="id-ID">
                <a:solidFill>
                  <a:srgbClr val="334155"/>
                </a:solidFill>
                <a:latin typeface="Aptos"/>
              </a:rPr>
              <a:t>Repositori / demo: [isi jika diperlukan]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585216" y="24688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1000" b="1" lang="id-ID">
                <a:solidFill>
                  <a:srgbClr val="0F766E"/>
                </a:solidFill>
                <a:latin typeface="Aptos"/>
              </a:rPr>
              <a:t>PENUTUP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548640" y="512064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3000" b="1" lang="id-ID">
                <a:solidFill>
                  <a:srgbClr val="111827"/>
                </a:solidFill>
                <a:latin typeface="Aptos"/>
              </a:rPr>
              <a:t>Terima Kasih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585216" y="1005840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1400" b="0" lang="id-ID">
                <a:solidFill>
                  <a:srgbClr val="64748B"/>
                </a:solidFill>
                <a:latin typeface="Aptos"/>
              </a:rPr>
              <a:t>Sistem Autentikasi Sertifikat Digital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585216" y="1389888"/>
            <a:ext cx="11018520" cy="274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2400" b="0" lang="id-ID">
                <a:solidFill>
                  <a:srgbClr val="1F2937"/>
                </a:solidFill>
                <a:latin typeface="Aptos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mhas">
  <a:themeElements>
    <a:clrScheme name="Semhas">
      <a:dk1>
        <a:srgbClr val="111827"/>
      </a:dk1>
      <a:lt1>
        <a:srgbClr val="FFFFFF"/>
      </a:lt1>
      <a:dk2>
        <a:srgbClr val="334155"/>
      </a:dk2>
      <a:lt2>
        <a:srgbClr val="F8FAFC"/>
      </a:lt2>
      <a:accent1>
        <a:srgbClr val="0F766E"/>
      </a:accent1>
      <a:accent2>
        <a:srgbClr val="2563EB"/>
      </a:accent2>
      <a:accent3>
        <a:srgbClr val="7C3AED"/>
      </a:accent3>
      <a:accent4>
        <a:srgbClr val="DC2626"/>
      </a:accent4>
      <a:accent5>
        <a:srgbClr val="F59E0B"/>
      </a:accent5>
      <a:accent6>
        <a:srgbClr val="475569"/>
      </a:accent6>
      <a:hlink>
        <a:srgbClr val="2563EB"/>
      </a:hlink>
      <a:folHlink>
        <a:srgbClr val="7C3AED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Semhas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Widescreen</PresentationFormat>
  <Slides>16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Seminar Hasil Sistem Autentikasi Sertifikat Digital</dc:title>
  <dc:creator>Codex</dc:creator>
  <cp:lastModifiedBy>Codex</cp:lastModifiedBy>
  <dcterms:created xsi:type="dcterms:W3CDTF">2026-04-28T04:28:37Z</dcterms:created>
  <dcterms:modified xsi:type="dcterms:W3CDTF">2026-04-28T04:28:37Z</dcterms:modified>
</cp:coreProperties>
</file>